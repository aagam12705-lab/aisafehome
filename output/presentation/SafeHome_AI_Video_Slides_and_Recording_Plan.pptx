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029876625540e1" /><Relationship Type="http://schemas.openxmlformats.org/officeDocument/2006/relationships/extended-properties" Target="/docProps/app.xml" Id="R0f15fe9b8d8d4191" /><Relationship Type="http://schemas.openxmlformats.org/officeDocument/2006/relationships/officeDocument" Target="/ppt/presentation.xml" Id="R6f9f32d638fb4dc7" /></Relationships>
</file>

<file path=ppt/presentation.xml><?xml version="1.0" encoding="utf-8"?>
<p:presentation xmlns:p="http://schemas.openxmlformats.org/presentationml/2006/main">
  <p:sldMasterIdLst>
    <p:sldMasterId xmlns:r="http://schemas.openxmlformats.org/officeDocument/2006/relationships" id="2147483648" r:id="R40c6641c009f4698"/>
  </p:sldMasterIdLst>
  <p:notesMasterIdLst>
    <p:notesMasterId xmlns:r="http://schemas.openxmlformats.org/officeDocument/2006/relationships" r:id="R0cf758d5acf64986"/>
  </p:notesMasterIdLst>
  <p:sldIdLst>
    <p:sldId xmlns:r="http://schemas.openxmlformats.org/officeDocument/2006/relationships" id="256" r:id="R8a03777603264b29"/>
    <p:sldId xmlns:r="http://schemas.openxmlformats.org/officeDocument/2006/relationships" id="257" r:id="R3947f8d3b7e54811"/>
    <p:sldId xmlns:r="http://schemas.openxmlformats.org/officeDocument/2006/relationships" id="258" r:id="Rcb42e5a754c54311"/>
    <p:sldId xmlns:r="http://schemas.openxmlformats.org/officeDocument/2006/relationships" id="259" r:id="R4cce97b1331449ff"/>
    <p:sldId xmlns:r="http://schemas.openxmlformats.org/officeDocument/2006/relationships" id="260" r:id="R60366e3d23664c90"/>
    <p:sldId xmlns:r="http://schemas.openxmlformats.org/officeDocument/2006/relationships" id="261" r:id="Reaea455dab7342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ed5c8a242d48a6" /><Relationship Type="http://schemas.openxmlformats.org/officeDocument/2006/relationships/slideMaster" Target="/ppt/slideMasters/slideMaster1.xml" Id="R40c6641c009f4698" /><Relationship Type="http://schemas.openxmlformats.org/officeDocument/2006/relationships/notesMaster" Target="/ppt/notesMasters/notesMaster1.xml" Id="R0cf758d5acf64986" /><Relationship Type="http://schemas.openxmlformats.org/officeDocument/2006/relationships/presProps" Target="/ppt/presProps.xml" Id="R67f9228a5e9c451e" /><Relationship Type="http://schemas.openxmlformats.org/officeDocument/2006/relationships/tableStyles" Target="/ppt/tableStyles.xml" Id="R3dd8b4c870d7481f" /><Relationship Type="http://schemas.openxmlformats.org/officeDocument/2006/relationships/slide" Target="/ppt/slides/slide1.xml" Id="R8a03777603264b29" /><Relationship Type="http://schemas.openxmlformats.org/officeDocument/2006/relationships/slide" Target="/ppt/slides/slide2.xml" Id="R3947f8d3b7e54811" /><Relationship Type="http://schemas.openxmlformats.org/officeDocument/2006/relationships/slide" Target="/ppt/slides/slide3.xml" Id="Rcb42e5a754c54311" /><Relationship Type="http://schemas.openxmlformats.org/officeDocument/2006/relationships/slide" Target="/ppt/slides/slide4.xml" Id="R4cce97b1331449ff" /><Relationship Type="http://schemas.openxmlformats.org/officeDocument/2006/relationships/slide" Target="/ppt/slides/slide5.xml" Id="R60366e3d23664c90" /><Relationship Type="http://schemas.openxmlformats.org/officeDocument/2006/relationships/slide" Target="/ppt/slides/slide6.xml" Id="Reaea455dab7342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4a2baa290f4d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2c13c3d28a4248" /><Relationship Type="http://schemas.openxmlformats.org/officeDocument/2006/relationships/notesMaster" Target="/ppt/notesMasters/notesMaster1.xml" Id="Rb0d198feeaa9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6096196ce1456b" /><Relationship Type="http://schemas.openxmlformats.org/officeDocument/2006/relationships/notesMaster" Target="/ppt/notesMasters/notesMaster1.xml" Id="Rd8791eb1aada48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426cd2b8a4465a" /><Relationship Type="http://schemas.openxmlformats.org/officeDocument/2006/relationships/notesMaster" Target="/ppt/notesMasters/notesMaster1.xml" Id="R57d3c304986c4b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98bc290e6a4cac" /><Relationship Type="http://schemas.openxmlformats.org/officeDocument/2006/relationships/notesMaster" Target="/ppt/notesMasters/notesMaster1.xml" Id="R572063b3284742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a156f4ae74433c" /><Relationship Type="http://schemas.openxmlformats.org/officeDocument/2006/relationships/notesMaster" Target="/ppt/notesMasters/notesMaster1.xml" Id="Re6e63c59f97845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37a9afae274350" /><Relationship Type="http://schemas.openxmlformats.org/officeDocument/2006/relationships/notesMaster" Target="/ppt/notesMasters/notesMaster1.xml" Id="R73ec62b26f3347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0:00-0:08 (8 seconds)</a:t>
            </a:r>
          </a:p>
          <a:p xmlns:a="http://schemas.openxmlformats.org/drawingml/2006/main">
            <a:r>
              <a:t/>
            </a:r>
          </a:p>
          <a:p xmlns:a="http://schemas.openxmlformats.org/drawingml/2006/main">
            <a:r>
              <a:t>NARRATION</a:t>
            </a:r>
          </a:p>
          <a:p xmlns:a="http://schemas.openxmlformats.org/drawingml/2006/main">
            <a:r>
              <a:t>I built SafeHome AI to help older adults and families find room hazards before those hazards become accidents.</a:t>
            </a:r>
          </a:p>
          <a:p xmlns:a="http://schemas.openxmlformats.org/drawingml/2006/main">
            <a:r>
              <a:t/>
            </a:r>
          </a:p>
          <a:p xmlns:a="http://schemas.openxmlformats.org/drawingml/2006/main">
            <a:r>
              <a:t>NEXT APP CLIP</a:t>
            </a:r>
          </a:p>
          <a:p xmlns:a="http://schemas.openxmlformats.org/drawingml/2006/main">
            <a:r>
              <a:t>0:08-0:33 - Clip A: Start a Quick Safety Check, choose a room, upload a photo, and begin analysis. Narration: A first check does not require an account. The user chooses a room, uploads one photo, and the app checks image quality before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0:33-0:45 (12 seconds)</a:t>
            </a:r>
          </a:p>
          <a:p xmlns:a="http://schemas.openxmlformats.org/drawingml/2006/main">
            <a:r>
              <a:t/>
            </a:r>
          </a:p>
          <a:p xmlns:a="http://schemas.openxmlformats.org/drawingml/2006/main">
            <a:r>
              <a:t>NARRATION</a:t>
            </a:r>
          </a:p>
          <a:p xmlns:a="http://schemas.openxmlformats.org/drawingml/2006/main">
            <a:r>
              <a:t>Quick Check removes setup from the first experience. An account uses the same analysis, then adds Room Names, history, comparisons, trends, and sharing.</a:t>
            </a:r>
          </a:p>
          <a:p xmlns:a="http://schemas.openxmlformats.org/drawingml/2006/main">
            <a:r>
              <a:t/>
            </a:r>
          </a:p>
          <a:p xmlns:a="http://schemas.openxmlformats.org/drawingml/2006/main">
            <a:r>
              <a:t>NEXT APP CLIP</a:t>
            </a:r>
          </a:p>
          <a:p xmlns:a="http://schemas.openxmlformats.org/drawingml/2006/main">
            <a:r>
              <a:t>0:45-1:20 - Clip B: Show the marked photo, two hazard cards, answer follow-up questions, and reveal the score. Narration: Numbered markers connect visible evidence to plain-language explanations. Questions cover important details the photo cannot prove, and the result ends with a bounded room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1:20-1:32 (12 seconds)</a:t>
            </a:r>
          </a:p>
          <a:p xmlns:a="http://schemas.openxmlformats.org/drawingml/2006/main">
            <a:r>
              <a:t/>
            </a:r>
          </a:p>
          <a:p xmlns:a="http://schemas.openxmlformats.org/drawingml/2006/main">
            <a:r>
              <a:t>NARRATION</a:t>
            </a:r>
          </a:p>
          <a:p xmlns:a="http://schemas.openxmlformats.org/drawingml/2006/main">
            <a:r>
              <a:t>A Streamlit upload passes through image-quality checks and OpenAI Vision. Python rules validate the returned JSON, clamp every hazard to one through fifteen points, and create questions for uncertainty. Supabase stores accounts and structured check history, Brevo sends reset codes and text summaries, and room photos remain only in the active session.</a:t>
            </a:r>
          </a:p>
          <a:p xmlns:a="http://schemas.openxmlformats.org/drawingml/2006/main">
            <a:r>
              <a:t/>
            </a:r>
          </a:p>
          <a:p xmlns:a="http://schemas.openxmlformats.org/drawingml/2006/main">
            <a:r>
              <a:t>NEXT APP CLIP</a:t>
            </a:r>
          </a:p>
          <a:p xmlns:a="http://schemas.openxmlformats.org/drawingml/2006/main">
            <a:r>
              <a:t>1:32-1:57 - Clip C: Show the three-step safety plan, then compare a second photo after fixes. Narration: The result becomes a short action plan. A later photo shows which hazard categories were resolved, which remain, and whether anything new appeared.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1:57-2:09 (12 seconds)</a:t>
            </a:r>
          </a:p>
          <a:p xmlns:a="http://schemas.openxmlformats.org/drawingml/2006/main">
            <a:r>
              <a:t/>
            </a:r>
          </a:p>
          <a:p xmlns:a="http://schemas.openxmlformats.org/drawingml/2006/main">
            <a:r>
              <a:t>NARRATION</a:t>
            </a:r>
          </a:p>
          <a:p xmlns:a="http://schemas.openxmlformats.org/drawingml/2006/main">
            <a:r>
              <a:t>Each visible hazard receives one to fifteen points. Follow-up answers add evidence, skipped questions can add a limited buffer, and the final room score stays capped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2:09-2:21 (12 seconds)</a:t>
            </a:r>
          </a:p>
          <a:p xmlns:a="http://schemas.openxmlformats.org/drawingml/2006/main">
            <a:r>
              <a:t/>
            </a:r>
          </a:p>
          <a:p xmlns:a="http://schemas.openxmlformats.org/drawingml/2006/main">
            <a:r>
              <a:t>NARRATION</a:t>
            </a:r>
          </a:p>
          <a:p xmlns:a="http://schemas.openxmlformats.org/drawingml/2006/main">
            <a:r>
              <a:t>I tested ten staged room images containing thirty-five reference hazards. SafeHome AI correctly reported thirty-four and missed one, for a ninety-seven point one percent detection rate.</a:t>
            </a:r>
          </a:p>
          <a:p xmlns:a="http://schemas.openxmlformats.org/drawingml/2006/main">
            <a:r>
              <a:t/>
            </a:r>
          </a:p>
          <a:p xmlns:a="http://schemas.openxmlformats.org/drawingml/2006/main">
            <a:r>
              <a:t>NEXT APP CLIP</a:t>
            </a:r>
          </a:p>
          <a:p xmlns:a="http://schemas.openxmlformats.org/drawingml/2006/main">
            <a:r>
              <a:t>2:21-2:46 - Clip D: Show the room dashboard, score trend, before-and-after comparison, add an email recipient, and briefly open Accessibility. Narration: Saved checks track progress by room. The dashboard shows trends and comparisons, summaries can go to trusted people, and accessibility controls remain available throughout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2:46-3:00 (14 seconds)</a:t>
            </a:r>
          </a:p>
          <a:p xmlns:a="http://schemas.openxmlformats.org/drawingml/2006/main">
            <a:r>
              <a:t/>
            </a:r>
          </a:p>
          <a:p xmlns:a="http://schemas.openxmlformats.org/drawingml/2006/main">
            <a:r>
              <a:t>NARRATION</a:t>
            </a:r>
          </a:p>
          <a:p xmlns:a="http://schemas.openxmlformats.org/drawingml/2006/main">
            <a:r>
              <a:t>SafeHome AI is designed around consistency, uncertainty, action, and access. Python rules stabilize the score, follow-up questions prevent hidden assumptions, results become trackable fixes, and accessibility remains available throughout. The app supports room decisions without diagnosing a person or guaranteeing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3a535b540f4d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26eda6cf6e41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a8fed105344d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7c605d12ff4d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d62977a2414f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9afc8a247b42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83E86-50F4-4799-B3DA-853A431315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DCC246-00D7-45C8-A2C0-AADF799FD0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59B34E-3A9F-4F68-B8D0-94467F223E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B38518-C414-4DDE-B74A-5EBA276A6C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2CE15F-E273-4845-8AD0-B670989918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3CF8E3-9181-40FD-B8F5-308C85F02E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EC88D5-53D2-4AF2-9427-3A5213D9D3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518EA7-89E9-46EC-A971-5743ADCC0B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3A47F0-8536-4E15-ADA3-2D6C10C4B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AEE0A5-0770-44F1-8291-5E810C3883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d17144fc354df5" /><Relationship Type="http://schemas.openxmlformats.org/officeDocument/2006/relationships/slideLayout" Target="/ppt/slideLayouts/slideLayout1.xml" Id="Rfbae5a2bd7f447dc" /><Relationship Type="http://schemas.openxmlformats.org/officeDocument/2006/relationships/slideLayout" Target="/ppt/slideLayouts/slideLayout2.xml" Id="R8acd94c216554ad6" /><Relationship Type="http://schemas.openxmlformats.org/officeDocument/2006/relationships/slideLayout" Target="/ppt/slideLayouts/slideLayout3.xml" Id="Rec70543560e849a0" /><Relationship Type="http://schemas.openxmlformats.org/officeDocument/2006/relationships/slideLayout" Target="/ppt/slideLayouts/slideLayout4.xml" Id="Rf784712dd2234256" /><Relationship Type="http://schemas.openxmlformats.org/officeDocument/2006/relationships/slideLayout" Target="/ppt/slideLayouts/slideLayout5.xml" Id="R6d61811cce8d4551" /><Relationship Type="http://schemas.openxmlformats.org/officeDocument/2006/relationships/slideLayout" Target="/ppt/slideLayouts/slideLayout6.xml" Id="R504e0d6d87184d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ae5a2bd7f447dc"/>
    <p:sldLayoutId xmlns:r="http://schemas.openxmlformats.org/officeDocument/2006/relationships" id="2147483650" r:id="R8acd94c216554ad6"/>
    <p:sldLayoutId xmlns:r="http://schemas.openxmlformats.org/officeDocument/2006/relationships" id="2147483651" r:id="Rec70543560e849a0"/>
    <p:sldLayoutId xmlns:r="http://schemas.openxmlformats.org/officeDocument/2006/relationships" id="2147483652" r:id="Rf784712dd2234256"/>
    <p:sldLayoutId xmlns:r="http://schemas.openxmlformats.org/officeDocument/2006/relationships" id="2147483653" r:id="R6d61811cce8d4551"/>
    <p:sldLayoutId xmlns:r="http://schemas.openxmlformats.org/officeDocument/2006/relationships" id="2147483654" r:id="R504e0d6d87184d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dca965ecaa45c6" /><Relationship Type="http://schemas.openxmlformats.org/officeDocument/2006/relationships/notesSlide" Target="/ppt/notesSlides/notesSlide1.xml" Id="R6d29744be4594e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e885632d814100" /><Relationship Type="http://schemas.openxmlformats.org/officeDocument/2006/relationships/notesSlide" Target="/ppt/notesSlides/notesSlide2.xml" Id="Rca92d5ea8b5d46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d24c6cb7f74743" /><Relationship Type="http://schemas.openxmlformats.org/officeDocument/2006/relationships/notesSlide" Target="/ppt/notesSlides/notesSlide3.xml" Id="Redbda800f3dd45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dc75c59b394bb2" /><Relationship Type="http://schemas.openxmlformats.org/officeDocument/2006/relationships/notesSlide" Target="/ppt/notesSlides/notesSlide4.xml" Id="Rbc0c9507131645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218997f3104d5a" /><Relationship Type="http://schemas.openxmlformats.org/officeDocument/2006/relationships/notesSlide" Target="/ppt/notesSlides/notesSlide5.xml" Id="R2bc3655e4b8445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7938734b944f76" /><Relationship Type="http://schemas.openxmlformats.org/officeDocument/2006/relationships/notesSlide" Target="/ppt/notesSlides/notesSlide6.xml" Id="R45795a1006fa44f5"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AAD554-04C3-40C6-A0D1-4997F7CA73B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7740B8-94E0-4AE8-82C7-18CAF4AB7A4F}"/>
              </a:ext>
            </a:extLst>
          </p:cNvPr>
          <p:cNvSpPr>
            <a:spLocks xmlns:a="http://schemas.openxmlformats.org/drawingml/2006/main" noGrp="1"/>
          </p:cNvSpPr>
          <p:nvPr/>
        </p:nvSpPr>
        <p:spPr>
          <a:xfrm xmlns:a="http://schemas.openxmlformats.org/drawingml/2006/main">
            <a:off x="628650" y="1143000"/>
            <a:ext cx="676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203247"/>
                </a:solidFill>
              </a:defRPr>
            </a:defPPr>
          </a:lstStyle>
          <a:p xmlns:a="http://schemas.openxmlformats.org/drawingml/2006/main">
            <a:pPr algn="l">
              <a:defRPr sz="3600" b="1">
                <a:solidFill>
                  <a:srgbClr val="203247"/>
                </a:solidFill>
              </a:defRPr>
            </a:pPr>
            <a:r>
              <a:rPr sz="3600" b="1">
                <a:solidFill>
                  <a:srgbClr val="203247"/>
                </a:solidFill>
              </a:rPr>
              <a:t>A room-safety check</a:t>
            </a:r>
          </a:p>
          <a:p xmlns:a="http://schemas.openxmlformats.org/drawingml/2006/main">
            <a:pPr algn="l">
              <a:defRPr sz="3600" b="1">
                <a:solidFill>
                  <a:srgbClr val="203247"/>
                </a:solidFill>
              </a:defRPr>
            </a:pPr>
            <a:r>
              <a:rPr sz="3600" b="1">
                <a:solidFill>
                  <a:srgbClr val="203247"/>
                </a:solidFill>
              </a:rPr>
              <a:t>from one photo</a:t>
            </a:r>
          </a:p>
        </p:txBody>
      </p:sp>
      <p:sp>
        <p:nvSpPr>
          <p:cNvPr id="3" name="">
            <a:extLst xmlns:a="http://schemas.openxmlformats.org/drawingml/2006/main">
              <a:ext uri="{FF2B5EF4-FFF2-40B4-BE49-F238E27FC236}">
                <a16:creationId xmlns:a16="http://schemas.microsoft.com/office/drawing/2014/main" id="{D0FA3080-8C4F-4FE8-96B8-DE4BDFFF4909}"/>
              </a:ext>
            </a:extLst>
          </p:cNvPr>
          <p:cNvSpPr>
            <a:spLocks xmlns:a="http://schemas.openxmlformats.org/drawingml/2006/main" noGrp="1"/>
          </p:cNvSpPr>
          <p:nvPr/>
        </p:nvSpPr>
        <p:spPr>
          <a:xfrm xmlns:a="http://schemas.openxmlformats.org/drawingml/2006/main">
            <a:off x="628650" y="2838450"/>
            <a:ext cx="657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59677A"/>
                </a:solidFill>
              </a:defRPr>
            </a:defPPr>
          </a:lstStyle>
          <a:p xmlns:a="http://schemas.openxmlformats.org/drawingml/2006/main">
            <a:pPr algn="l">
              <a:defRPr sz="1650" b="0">
                <a:solidFill>
                  <a:srgbClr val="59677A"/>
                </a:solidFill>
              </a:defRPr>
            </a:pPr>
            <a:r>
              <a:rPr sz="1650" b="0">
                <a:solidFill>
                  <a:srgbClr val="59677A"/>
                </a:solidFill>
              </a:rPr>
              <a:t>Designed for older adults, families, and anyone helping make a home safer.</a:t>
            </a:r>
          </a:p>
        </p:txBody>
      </p:sp>
      <p:sp>
        <p:nvSpPr>
          <p:cNvPr id="4" name="">
            <a:extLst xmlns:a="http://schemas.openxmlformats.org/drawingml/2006/main">
              <a:ext uri="{FF2B5EF4-FFF2-40B4-BE49-F238E27FC236}">
                <a16:creationId xmlns:a16="http://schemas.microsoft.com/office/drawing/2014/main" id="{C2EEA11D-1955-4B19-B25E-71F57ADE2892}"/>
              </a:ext>
            </a:extLst>
          </p:cNvPr>
          <p:cNvSpPr>
            <a:spLocks xmlns:a="http://schemas.openxmlformats.org/drawingml/2006/main" noGrp="1"/>
          </p:cNvSpPr>
          <p:nvPr/>
        </p:nvSpPr>
        <p:spPr>
          <a:xfrm xmlns:a="http://schemas.openxmlformats.org/drawingml/2006/main">
            <a:off x="628650" y="377190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08B61E-6CCC-45BB-9505-A00832AB28B5}"/>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66DED213-A8C0-4156-893D-B143B654F8F5}"/>
              </a:ext>
            </a:extLst>
          </p:cNvPr>
          <p:cNvSpPr>
            <a:spLocks xmlns:a="http://schemas.openxmlformats.org/drawingml/2006/main" noGrp="1"/>
          </p:cNvSpPr>
          <p:nvPr/>
        </p:nvSpPr>
        <p:spPr>
          <a:xfrm xmlns:a="http://schemas.openxmlformats.org/drawingml/2006/main">
            <a:off x="8096250" y="1809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START HERE</a:t>
            </a:r>
          </a:p>
        </p:txBody>
      </p:sp>
      <p:sp>
        <p:nvSpPr>
          <p:cNvPr id="7" name="">
            <a:extLst xmlns:a="http://schemas.openxmlformats.org/drawingml/2006/main">
              <a:ext uri="{FF2B5EF4-FFF2-40B4-BE49-F238E27FC236}">
                <a16:creationId xmlns:a16="http://schemas.microsoft.com/office/drawing/2014/main" id="{D26BF058-BE3E-4B58-9BAF-7A8DE865787D}"/>
              </a:ext>
            </a:extLst>
          </p:cNvPr>
          <p:cNvSpPr>
            <a:spLocks xmlns:a="http://schemas.openxmlformats.org/drawingml/2006/main" noGrp="1"/>
          </p:cNvSpPr>
          <p:nvPr/>
        </p:nvSpPr>
        <p:spPr>
          <a:xfrm xmlns:a="http://schemas.openxmlformats.org/drawingml/2006/main">
            <a:off x="8477250" y="24955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025" b="1">
                <a:solidFill>
                  <a:srgbClr val="203247"/>
                </a:solidFill>
              </a:defRPr>
            </a:defPPr>
          </a:lstStyle>
          <a:p xmlns:a="http://schemas.openxmlformats.org/drawingml/2006/main">
            <a:pPr algn="ctr">
              <a:defRPr sz="2025" b="1">
                <a:solidFill>
                  <a:srgbClr val="203247"/>
                </a:solidFill>
              </a:defRPr>
            </a:pPr>
            <a:r>
              <a:rPr sz="2025" b="1">
                <a:solidFill>
                  <a:srgbClr val="203247"/>
                </a:solidFill>
              </a:rPr>
              <a:t>Take or upload</a:t>
            </a:r>
          </a:p>
          <a:p xmlns:a="http://schemas.openxmlformats.org/drawingml/2006/main">
            <a:pPr algn="ctr">
              <a:defRPr sz="2025" b="1">
                <a:solidFill>
                  <a:srgbClr val="203247"/>
                </a:solidFill>
              </a:defRPr>
            </a:pPr>
            <a:r>
              <a:rPr sz="2025" b="1">
                <a:solidFill>
                  <a:srgbClr val="203247"/>
                </a:solidFill>
              </a:rPr>
              <a:t>a room photo</a:t>
            </a:r>
          </a:p>
        </p:txBody>
      </p:sp>
      <p:sp>
        <p:nvSpPr>
          <p:cNvPr id="8" name="">
            <a:extLst xmlns:a="http://schemas.openxmlformats.org/drawingml/2006/main">
              <a:ext uri="{FF2B5EF4-FFF2-40B4-BE49-F238E27FC236}">
                <a16:creationId xmlns:a16="http://schemas.microsoft.com/office/drawing/2014/main" id="{379778E8-095B-4FE9-ACCC-AEE9AECF474E}"/>
              </a:ext>
            </a:extLst>
          </p:cNvPr>
          <p:cNvSpPr>
            <a:spLocks xmlns:a="http://schemas.openxmlformats.org/drawingml/2006/main" noGrp="1"/>
          </p:cNvSpPr>
          <p:nvPr/>
        </p:nvSpPr>
        <p:spPr>
          <a:xfrm xmlns:a="http://schemas.openxmlformats.org/drawingml/2006/main">
            <a:off x="8858250" y="3638550"/>
            <a:ext cx="1333500" cy="47625"/>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2E934B-F1C1-49A0-99B6-AB32D98F37EA}"/>
              </a:ext>
            </a:extLst>
          </p:cNvPr>
          <p:cNvSpPr>
            <a:spLocks xmlns:a="http://schemas.openxmlformats.org/drawingml/2006/main" noGrp="1"/>
          </p:cNvSpPr>
          <p:nvPr/>
        </p:nvSpPr>
        <p:spPr>
          <a:xfrm xmlns:a="http://schemas.openxmlformats.org/drawingml/2006/main">
            <a:off x="8477250" y="39243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425" b="0">
                <a:solidFill>
                  <a:srgbClr val="59677A"/>
                </a:solidFill>
              </a:defRPr>
            </a:defPPr>
          </a:lstStyle>
          <a:p xmlns:a="http://schemas.openxmlformats.org/drawingml/2006/main">
            <a:pPr algn="ctr">
              <a:defRPr sz="1425" b="0">
                <a:solidFill>
                  <a:srgbClr val="59677A"/>
                </a:solidFill>
              </a:defRPr>
            </a:pPr>
            <a:r>
              <a:rPr sz="1425" b="0">
                <a:solidFill>
                  <a:srgbClr val="59677A"/>
                </a:solidFill>
              </a:rPr>
              <a:t>The app explains what it notices</a:t>
            </a:r>
          </a:p>
        </p:txBody>
      </p:sp>
      <p:sp>
        <p:nvSpPr>
          <p:cNvPr id="10" name="">
            <a:extLst xmlns:a="http://schemas.openxmlformats.org/drawingml/2006/main">
              <a:ext uri="{FF2B5EF4-FFF2-40B4-BE49-F238E27FC236}">
                <a16:creationId xmlns:a16="http://schemas.microsoft.com/office/drawing/2014/main" id="{967AB5DE-1DA6-46CC-840C-F078AD2B15E2}"/>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112742167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60DE95D-E832-499E-B2B5-F9AC11444D5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C3A58-EF42-4325-B2BB-363A432C74B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stStyle>
          <a:p xmlns:a="http://schemas.openxmlformats.org/drawingml/2006/main">
            <a:pPr algn="l">
              <a:defRPr sz="2700" b="1">
                <a:solidFill>
                  <a:srgbClr val="203247"/>
                </a:solidFill>
              </a:defRPr>
            </a:pPr>
            <a:r>
              <a:rPr sz="2700" b="1">
                <a:solidFill>
                  <a:srgbClr val="203247"/>
                </a:solidFill>
              </a:rPr>
              <a:t>Choose the path that fits</a:t>
            </a:r>
          </a:p>
        </p:txBody>
      </p:sp>
      <p:sp>
        <p:nvSpPr>
          <p:cNvPr id="3" name="">
            <a:extLst xmlns:a="http://schemas.openxmlformats.org/drawingml/2006/main">
              <a:ext uri="{FF2B5EF4-FFF2-40B4-BE49-F238E27FC236}">
                <a16:creationId xmlns:a16="http://schemas.microsoft.com/office/drawing/2014/main" id="{FCB7E4F3-B30F-4D50-86B6-842A0D60076B}"/>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stStyle>
          <a:p xmlns:a="http://schemas.openxmlformats.org/drawingml/2006/main">
            <a:pPr algn="l">
              <a:defRPr sz="1425" b="0">
                <a:solidFill>
                  <a:srgbClr val="59677A"/>
                </a:solidFill>
              </a:defRPr>
            </a:pPr>
            <a:r>
              <a:rPr sz="1425" b="0">
                <a:solidFill>
                  <a:srgbClr val="59677A"/>
                </a:solidFill>
              </a:rPr>
              <a:t>The safety check is the same. Saving a room is optional.</a:t>
            </a:r>
          </a:p>
        </p:txBody>
      </p:sp>
      <p:sp>
        <p:nvSpPr>
          <p:cNvPr id="4" name="">
            <a:extLst xmlns:a="http://schemas.openxmlformats.org/drawingml/2006/main">
              <a:ext uri="{FF2B5EF4-FFF2-40B4-BE49-F238E27FC236}">
                <a16:creationId xmlns:a16="http://schemas.microsoft.com/office/drawing/2014/main" id="{B813A88C-68DD-41BC-B3C6-2FA69B82FD45}"/>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525B8524-4B10-45C4-AC98-433D7E19D3A1}"/>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B9241D-362E-42CF-8BBF-C678D25CCCC3}"/>
              </a:ext>
            </a:extLst>
          </p:cNvPr>
          <p:cNvSpPr>
            <a:spLocks xmlns:a="http://schemas.openxmlformats.org/drawingml/2006/main" noGrp="1"/>
          </p:cNvSpPr>
          <p:nvPr/>
        </p:nvSpPr>
        <p:spPr>
          <a:xfrm xmlns:a="http://schemas.openxmlformats.org/drawingml/2006/main">
            <a:off x="857250" y="19621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stStyle>
          <a:p xmlns:a="http://schemas.openxmlformats.org/drawingml/2006/main">
            <a:pPr algn="l">
              <a:defRPr sz="1200" b="1">
                <a:solidFill>
                  <a:srgbClr val="1E5D78"/>
                </a:solidFill>
              </a:defRPr>
            </a:pPr>
            <a:r>
              <a:rPr sz="1200" b="1">
                <a:solidFill>
                  <a:srgbClr val="1E5D78"/>
                </a:solidFill>
              </a:rPr>
              <a:t>FASTEST</a:t>
            </a:r>
          </a:p>
        </p:txBody>
      </p:sp>
      <p:sp>
        <p:nvSpPr>
          <p:cNvPr id="7" name="">
            <a:extLst xmlns:a="http://schemas.openxmlformats.org/drawingml/2006/main">
              <a:ext uri="{FF2B5EF4-FFF2-40B4-BE49-F238E27FC236}">
                <a16:creationId xmlns:a16="http://schemas.microsoft.com/office/drawing/2014/main" id="{F477322E-5546-4244-8C92-7185C3C171AC}"/>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E7AA011B-BDBA-40B9-8B54-79D540C3EDFB}"/>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DC4E6A63-2DFA-49D3-904F-7D5169F11629}"/>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4DE5B061-D230-49E0-B366-C24F8DB583B3}"/>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D42B25E1-6C03-4161-BA81-C27C4254ECE0}"/>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F1A37C-6254-4219-BF66-CDFECA2D772C}"/>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6844686F-8D48-4142-8740-286CA120D415}"/>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EFFC0887-AFE7-4962-8D0A-5C60EE768F8C}"/>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111BC2B7-8527-4E17-8569-BB575780579D}"/>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421D4739-580F-4281-A837-0988871C7844}"/>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0ACE66-9983-4BF3-9A74-24BD57CE7499}"/>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9C91077F-A6E0-43E8-84B8-C10120CD6031}"/>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E823BDA1-1E5B-48FD-87D2-9E9682A41699}"/>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D5687DCB-89C5-4FA7-BA6B-23EEF8FF3D27}"/>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CA5E1F4A-1C72-482B-8234-5D10B188A326}"/>
              </a:ext>
            </a:extLst>
          </p:cNvPr>
          <p:cNvSpPr>
            <a:spLocks xmlns:a="http://schemas.openxmlformats.org/drawingml/2006/main" noGrp="1"/>
          </p:cNvSpPr>
          <p:nvPr/>
        </p:nvSpPr>
        <p:spPr>
          <a:xfrm xmlns:a="http://schemas.openxmlformats.org/drawingml/2006/main">
            <a:off x="6800850" y="19621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stStyle>
          <a:p xmlns:a="http://schemas.openxmlformats.org/drawingml/2006/main">
            <a:pPr algn="l">
              <a:defRPr sz="1200" b="1">
                <a:solidFill>
                  <a:srgbClr val="1E5D78"/>
                </a:solidFill>
              </a:defRPr>
            </a:pPr>
            <a:r>
              <a:rPr sz="1200" b="1">
                <a:solidFill>
                  <a:srgbClr val="1E5D78"/>
                </a:solidFill>
              </a:rPr>
              <a:t>FOR TRACKING</a:t>
            </a:r>
          </a:p>
        </p:txBody>
      </p:sp>
      <p:sp>
        <p:nvSpPr>
          <p:cNvPr id="22" name="">
            <a:extLst xmlns:a="http://schemas.openxmlformats.org/drawingml/2006/main">
              <a:ext uri="{FF2B5EF4-FFF2-40B4-BE49-F238E27FC236}">
                <a16:creationId xmlns:a16="http://schemas.microsoft.com/office/drawing/2014/main" id="{EAC38BD3-5C67-4E9C-A080-B3DFCAC37E5B}"/>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stStyle>
          <a:p xmlns:a="http://schemas.openxmlformats.org/drawingml/2006/main">
            <a:pPr algn="l">
              <a:defRPr sz="2175" b="1">
                <a:solidFill>
                  <a:srgbClr val="203247"/>
                </a:solidFill>
              </a:defRPr>
            </a:pPr>
            <a:r>
              <a:rPr sz="2175" b="1">
                <a:solidFill>
                  <a:srgbClr val="203247"/>
                </a:solidFill>
              </a:rPr>
              <a:t>Account Check</a:t>
            </a:r>
          </a:p>
        </p:txBody>
      </p:sp>
      <p:sp>
        <p:nvSpPr>
          <p:cNvPr id="23" name="">
            <a:extLst xmlns:a="http://schemas.openxmlformats.org/drawingml/2006/main">
              <a:ext uri="{FF2B5EF4-FFF2-40B4-BE49-F238E27FC236}">
                <a16:creationId xmlns:a16="http://schemas.microsoft.com/office/drawing/2014/main" id="{93D38DE6-EE66-4B5E-A894-2E0BBDBC0B93}"/>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91756EFD-9498-4230-8AD6-73839F620C3D}"/>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C8C3FD9F-742C-4197-B182-86FF36846A14}"/>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2FB4E6BA-791B-432D-8DDA-D58386542E78}"/>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1606FA7-EB2D-40E4-A260-F602B0E3638E}"/>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5D8C1D32-946E-4DF1-B2FC-1F2D94DF0440}"/>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D161C463-1797-4D08-A096-060D3ED8259A}"/>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B219C2DE-0891-4910-BB4E-39030A07AE76}"/>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0017DF7A-60F2-4485-B2F4-767A517D0F6D}"/>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230780F-8939-442D-9651-C95AC75D751D}"/>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A70A7B98-0356-4AEC-8623-C8706CDD24F0}"/>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B7F97ACA-56F4-4050-A374-1013142E30BF}"/>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7AB0214F-E61C-43F0-B323-1B1E8D1F2084}"/>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77FE0362-CF83-413B-A097-362751BAAE99}"/>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3CB4960-3C12-45B6-AAD3-8AB0D4056667}"/>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BCD8880F-9F18-4FA2-B53D-55C26ABC3DEC}"/>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BOTH PATHS  →  photo review  →  validated hazards  →  follow-up questions  →  room score</a:t>
            </a:r>
          </a:p>
        </p:txBody>
      </p:sp>
    </p:spTree>
    <p:extLst>
      <p:ext uri="{BB962C8B-B14F-4D97-AF65-F5344CB8AC3E}">
        <p14:creationId xmlns:p14="http://schemas.microsoft.com/office/powerpoint/2010/main" val="26925827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5DE9EDD-4ED7-435B-8B14-A138C36361B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589DE8-5A13-4236-90B5-AFA21DADDDB0}"/>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stStyle>
          <a:p xmlns:a="http://schemas.openxmlformats.org/drawingml/2006/main">
            <a:pPr algn="l">
              <a:defRPr sz="2700" b="1">
                <a:solidFill>
                  <a:srgbClr val="203247"/>
                </a:solidFill>
              </a:defRPr>
            </a:pPr>
            <a:r>
              <a:rPr sz="2700" b="1">
                <a:solidFill>
                  <a:srgbClr val="203247"/>
                </a:solidFill>
              </a:rPr>
              <a:t>From photo to saved progress</a:t>
            </a:r>
          </a:p>
        </p:txBody>
      </p:sp>
      <p:sp>
        <p:nvSpPr>
          <p:cNvPr id="3" name="">
            <a:extLst xmlns:a="http://schemas.openxmlformats.org/drawingml/2006/main">
              <a:ext uri="{FF2B5EF4-FFF2-40B4-BE49-F238E27FC236}">
                <a16:creationId xmlns:a16="http://schemas.microsoft.com/office/drawing/2014/main" id="{94C0B858-935A-4677-BC87-FFA58BAF44BF}"/>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stStyle>
          <a:p xmlns:a="http://schemas.openxmlformats.org/drawingml/2006/main">
            <a:pPr algn="l">
              <a:defRPr sz="1425" b="0">
                <a:solidFill>
                  <a:srgbClr val="59677A"/>
                </a:solidFill>
              </a:defRPr>
            </a:pPr>
            <a:r>
              <a:rPr sz="1425" b="0">
                <a:solidFill>
                  <a:srgbClr val="59677A"/>
                </a:solidFill>
              </a:rPr>
              <a:t>One end-to-end flow connects the interface, Vision AI, validation, Supabase, and Brevo.</a:t>
            </a:r>
          </a:p>
        </p:txBody>
      </p:sp>
      <p:sp>
        <p:nvSpPr>
          <p:cNvPr id="4" name="">
            <a:extLst xmlns:a="http://schemas.openxmlformats.org/drawingml/2006/main">
              <a:ext uri="{FF2B5EF4-FFF2-40B4-BE49-F238E27FC236}">
                <a16:creationId xmlns:a16="http://schemas.microsoft.com/office/drawing/2014/main" id="{85DAEA14-2EF6-4C70-9D32-4C812DBC7BB2}"/>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46851720-8A0C-4EE7-B69F-6AE2F14BBDAD}"/>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A4625FD9-18CC-4A39-BEE3-E43000E3A752}"/>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F54D35E5-72A0-4E34-9A3B-79D6758DE4CC}"/>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FDB870E8-D7D4-4979-B6CA-8D3A4AB45ADA}"/>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6E25A31F-0D73-4A4E-BF8A-839D3F814471}"/>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F646280C-89D7-4FF9-9E95-3FF1D6C82AE0}"/>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A2B8CE77-0156-4408-BC68-006961080621}"/>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5A2AEFC2-E952-4556-BBB6-3E3C1E15EF2A}"/>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17531D08-9649-46FD-A387-034849E3DEB8}"/>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DE355AC3-1698-49A1-9924-AEC87D4E5825}"/>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90AE815C-0C48-4353-B785-39E45CA20CBF}"/>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77E963DB-EE86-4888-A378-9F6FE6A347E1}"/>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CAF0BC0A-91D2-4DC7-B4EA-5086981DEB0D}"/>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B4870159-BBD3-4232-9C02-32B60FCDECFE}"/>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6FB4B940-5B11-4012-AB95-267ED9C81C73}"/>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DDE50659-43F7-4446-9A49-7803BEEFC6F1}"/>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DDF178E2-73C6-4AD6-ABA5-2AB65391009F}"/>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5F411139-056B-4B59-A107-C1A38F27449B}"/>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B87E2C33-CC52-42FA-A0C4-C4E60EDF6B6A}"/>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76E43DC3-D62C-4113-BB41-5B945FFF874A}"/>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22173F9C-7345-49E5-8EF3-9EE0411CF87E}"/>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3C920FBA-5A30-4AFF-A408-DD6A8E12F315}"/>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17729C1F-02C7-4956-9ADA-78FBFC39A8DA}"/>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B38254CE-BC58-4F0B-8BD4-15ED26BD8667}"/>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stStyle>
          <a:p xmlns:a="http://schemas.openxmlformats.org/drawingml/2006/main">
            <a:pPr algn="ctr">
              <a:defRPr sz="1350" b="1">
                <a:solidFill>
                  <a:srgbClr val="203247"/>
                </a:solidFill>
              </a:defRPr>
            </a:pPr>
            <a:r>
              <a:rPr sz="1350" b="1">
                <a:solidFill>
                  <a:srgbClr val="203247"/>
                </a:solidFill>
              </a:rPr>
              <a:t>Validated result branches only when the user chooses to save or share.</a:t>
            </a:r>
          </a:p>
        </p:txBody>
      </p:sp>
      <p:sp>
        <p:nvSpPr>
          <p:cNvPr id="29" name="">
            <a:extLst xmlns:a="http://schemas.openxmlformats.org/drawingml/2006/main">
              <a:ext uri="{FF2B5EF4-FFF2-40B4-BE49-F238E27FC236}">
                <a16:creationId xmlns:a16="http://schemas.microsoft.com/office/drawing/2014/main" id="{5DF8A97C-AEBD-4734-AAD9-617C04F0F71F}"/>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FD82C9D-2E67-42E2-BEC0-A06364B85D72}"/>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784AE620-9E05-4F6A-A473-1C8676CB1EB8}"/>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3A95E88-60BC-48DC-A71F-9917556B6411}"/>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8B9E682A-436C-4851-A182-8006298516AB}"/>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25C9BF9-23A5-42A7-A828-26981CE9E0F8}"/>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14890B64-FA22-406D-A365-A5D640712752}"/>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715F626E-BF62-4419-B245-A7DC83AA6A5A}"/>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2C3CEC1A-BA43-46B7-BD70-2572084D66E1}"/>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F04B401D-A740-4329-998D-43830214AD14}"/>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A7B4F7BC-B534-4A77-9934-E4BB3520C4A1}"/>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03C9A8CC-43B1-4392-AF46-14A275F3B8DD}"/>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A8A3E203-E4C1-424D-90AA-5830097C5147}"/>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152DB913-E9C0-4631-9087-3490BBE81668}"/>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B30407E7-3828-4B93-85B6-697DCA9B44BB}"/>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F2FF0A58-5390-4ABC-B73D-F9254E1E49C1}"/>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stStyle>
          <a:p xmlns:a="http://schemas.openxmlformats.org/drawingml/2006/main">
            <a:pPr algn="ctr">
              <a:defRPr sz="1200" b="1">
                <a:solidFill>
                  <a:srgbClr val="203247"/>
                </a:solidFill>
              </a:defRPr>
            </a:pPr>
            <a:r>
              <a:rPr sz="1200" b="1">
                <a:solidFill>
                  <a:srgbClr val="203247"/>
                </a:solidFill>
              </a:rPr>
              <a:t>Failure handling  •  invalid AI values use tested defaults  •  database and email errors become readable messages  •  final score never exceeds 100</a:t>
            </a:r>
          </a:p>
        </p:txBody>
      </p:sp>
    </p:spTree>
    <p:extLst>
      <p:ext uri="{BB962C8B-B14F-4D97-AF65-F5344CB8AC3E}">
        <p14:creationId xmlns:p14="http://schemas.microsoft.com/office/powerpoint/2010/main" val="152927259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011734-FF01-4C59-8947-0F557D0F18B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6D5BA2-A3D3-4498-9C65-6769971E546C}"/>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stStyle>
          <a:p xmlns:a="http://schemas.openxmlformats.org/drawingml/2006/main">
            <a:pPr algn="l">
              <a:defRPr sz="2700" b="1">
                <a:solidFill>
                  <a:srgbClr val="203247"/>
                </a:solidFill>
              </a:defRPr>
            </a:pPr>
            <a:r>
              <a:rPr sz="2700" b="1">
                <a:solidFill>
                  <a:srgbClr val="203247"/>
                </a:solidFill>
              </a:rPr>
              <a:t>How the score stays consistent</a:t>
            </a:r>
          </a:p>
        </p:txBody>
      </p:sp>
      <p:sp>
        <p:nvSpPr>
          <p:cNvPr id="3" name="">
            <a:extLst xmlns:a="http://schemas.openxmlformats.org/drawingml/2006/main">
              <a:ext uri="{FF2B5EF4-FFF2-40B4-BE49-F238E27FC236}">
                <a16:creationId xmlns:a16="http://schemas.microsoft.com/office/drawing/2014/main" id="{648E9782-4502-4D27-9B5E-B46F321C968F}"/>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stStyle>
          <a:p xmlns:a="http://schemas.openxmlformats.org/drawingml/2006/main">
            <a:pPr algn="l">
              <a:defRPr sz="1425" b="0">
                <a:solidFill>
                  <a:srgbClr val="59677A"/>
                </a:solidFill>
              </a:defRPr>
            </a:pPr>
            <a:r>
              <a:rPr sz="1425" b="0">
                <a:solidFill>
                  <a:srgbClr val="59677A"/>
                </a:solidFill>
              </a:rPr>
              <a:t>Three inputs contribute to one room score, capped at 100.</a:t>
            </a:r>
          </a:p>
        </p:txBody>
      </p:sp>
      <p:sp>
        <p:nvSpPr>
          <p:cNvPr id="4" name="">
            <a:extLst xmlns:a="http://schemas.openxmlformats.org/drawingml/2006/main">
              <a:ext uri="{FF2B5EF4-FFF2-40B4-BE49-F238E27FC236}">
                <a16:creationId xmlns:a16="http://schemas.microsoft.com/office/drawing/2014/main" id="{34652470-7A1B-49BF-8406-CE9834772DF9}"/>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994F014E-6DBB-4A8F-8296-9F65D3746ED5}"/>
              </a:ext>
            </a:extLst>
          </p:cNvPr>
          <p:cNvSpPr>
            <a:spLocks xmlns:a="http://schemas.openxmlformats.org/drawingml/2006/main" noGrp="1"/>
          </p:cNvSpPr>
          <p:nvPr/>
        </p:nvSpPr>
        <p:spPr>
          <a:xfrm xmlns:a="http://schemas.openxmlformats.org/drawingml/2006/main">
            <a:off x="7620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1E5D78"/>
                </a:solidFill>
              </a:defRPr>
            </a:defPPr>
          </a:lstStyle>
          <a:p xmlns:a="http://schemas.openxmlformats.org/drawingml/2006/main">
            <a:pPr algn="l">
              <a:defRPr sz="1125" b="1">
                <a:solidFill>
                  <a:srgbClr val="1E5D78"/>
                </a:solidFill>
              </a:defRPr>
            </a:pPr>
            <a:r>
              <a:rPr sz="1125" b="1">
                <a:solidFill>
                  <a:srgbClr val="1E5D78"/>
                </a:solidFill>
              </a:rPr>
              <a:t>VISIBLE HAZARDS</a:t>
            </a:r>
          </a:p>
        </p:txBody>
      </p:sp>
      <p:sp>
        <p:nvSpPr>
          <p:cNvPr id="6" name="">
            <a:extLst xmlns:a="http://schemas.openxmlformats.org/drawingml/2006/main">
              <a:ext uri="{FF2B5EF4-FFF2-40B4-BE49-F238E27FC236}">
                <a16:creationId xmlns:a16="http://schemas.microsoft.com/office/drawing/2014/main" id="{5D198482-03A3-4740-B150-D1D4BE98666F}"/>
              </a:ext>
            </a:extLst>
          </p:cNvPr>
          <p:cNvSpPr>
            <a:spLocks xmlns:a="http://schemas.openxmlformats.org/drawingml/2006/main" noGrp="1"/>
          </p:cNvSpPr>
          <p:nvPr/>
        </p:nvSpPr>
        <p:spPr>
          <a:xfrm xmlns:a="http://schemas.openxmlformats.org/drawingml/2006/main">
            <a:off x="7620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stStyle>
          <a:p xmlns:a="http://schemas.openxmlformats.org/drawingml/2006/main">
            <a:pPr algn="l">
              <a:defRPr sz="2025" b="1">
                <a:solidFill>
                  <a:srgbClr val="203247"/>
                </a:solidFill>
              </a:defRPr>
            </a:pPr>
            <a:r>
              <a:rPr sz="2025" b="1">
                <a:solidFill>
                  <a:srgbClr val="203247"/>
                </a:solidFill>
              </a:rPr>
              <a:t>1-15 points each</a:t>
            </a:r>
          </a:p>
        </p:txBody>
      </p:sp>
      <p:sp>
        <p:nvSpPr>
          <p:cNvPr id="7" name="">
            <a:extLst xmlns:a="http://schemas.openxmlformats.org/drawingml/2006/main">
              <a:ext uri="{FF2B5EF4-FFF2-40B4-BE49-F238E27FC236}">
                <a16:creationId xmlns:a16="http://schemas.microsoft.com/office/drawing/2014/main" id="{6CEE3BCB-F93D-47A0-8110-8EFE358047A0}"/>
              </a:ext>
            </a:extLst>
          </p:cNvPr>
          <p:cNvSpPr>
            <a:spLocks xmlns:a="http://schemas.openxmlformats.org/drawingml/2006/main" noGrp="1"/>
          </p:cNvSpPr>
          <p:nvPr/>
        </p:nvSpPr>
        <p:spPr>
          <a:xfrm xmlns:a="http://schemas.openxmlformats.org/drawingml/2006/main">
            <a:off x="45339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2F7D68"/>
                </a:solidFill>
              </a:defRPr>
            </a:defPPr>
          </a:lstStyle>
          <a:p xmlns:a="http://schemas.openxmlformats.org/drawingml/2006/main">
            <a:pPr algn="l">
              <a:defRPr sz="1125" b="1">
                <a:solidFill>
                  <a:srgbClr val="2F7D68"/>
                </a:solidFill>
              </a:defRPr>
            </a:pPr>
            <a:r>
              <a:rPr sz="1125" b="1">
                <a:solidFill>
                  <a:srgbClr val="2F7D68"/>
                </a:solidFill>
              </a:rPr>
              <a:t>FOLLOW-UP CONCERNS</a:t>
            </a:r>
          </a:p>
        </p:txBody>
      </p:sp>
      <p:sp>
        <p:nvSpPr>
          <p:cNvPr id="8" name="">
            <a:extLst xmlns:a="http://schemas.openxmlformats.org/drawingml/2006/main">
              <a:ext uri="{FF2B5EF4-FFF2-40B4-BE49-F238E27FC236}">
                <a16:creationId xmlns:a16="http://schemas.microsoft.com/office/drawing/2014/main" id="{00AF946C-709E-4F9E-9C83-3E29331BF907}"/>
              </a:ext>
            </a:extLst>
          </p:cNvPr>
          <p:cNvSpPr>
            <a:spLocks xmlns:a="http://schemas.openxmlformats.org/drawingml/2006/main" noGrp="1"/>
          </p:cNvSpPr>
          <p:nvPr/>
        </p:nvSpPr>
        <p:spPr>
          <a:xfrm xmlns:a="http://schemas.openxmlformats.org/drawingml/2006/main">
            <a:off x="45339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stStyle>
          <a:p xmlns:a="http://schemas.openxmlformats.org/drawingml/2006/main">
            <a:pPr algn="l">
              <a:defRPr sz="2025" b="1">
                <a:solidFill>
                  <a:srgbClr val="203247"/>
                </a:solidFill>
              </a:defRPr>
            </a:pPr>
            <a:r>
              <a:rPr sz="2025" b="1">
                <a:solidFill>
                  <a:srgbClr val="203247"/>
                </a:solidFill>
              </a:rPr>
              <a:t>Weighted by answer</a:t>
            </a:r>
          </a:p>
        </p:txBody>
      </p:sp>
      <p:sp>
        <p:nvSpPr>
          <p:cNvPr id="9" name="">
            <a:extLst xmlns:a="http://schemas.openxmlformats.org/drawingml/2006/main">
              <a:ext uri="{FF2B5EF4-FFF2-40B4-BE49-F238E27FC236}">
                <a16:creationId xmlns:a16="http://schemas.microsoft.com/office/drawing/2014/main" id="{6CEF9B13-6E26-4310-AE9E-39E165F49E9F}"/>
              </a:ext>
            </a:extLst>
          </p:cNvPr>
          <p:cNvSpPr>
            <a:spLocks xmlns:a="http://schemas.openxmlformats.org/drawingml/2006/main" noGrp="1"/>
          </p:cNvSpPr>
          <p:nvPr/>
        </p:nvSpPr>
        <p:spPr>
          <a:xfrm xmlns:a="http://schemas.openxmlformats.org/drawingml/2006/main">
            <a:off x="83058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C9793A"/>
                </a:solidFill>
              </a:defRPr>
            </a:defPPr>
          </a:lstStyle>
          <a:p xmlns:a="http://schemas.openxmlformats.org/drawingml/2006/main">
            <a:pPr algn="l">
              <a:defRPr sz="1125" b="1">
                <a:solidFill>
                  <a:srgbClr val="C9793A"/>
                </a:solidFill>
              </a:defRPr>
            </a:pPr>
            <a:r>
              <a:rPr sz="1125" b="1">
                <a:solidFill>
                  <a:srgbClr val="C9793A"/>
                </a:solidFill>
              </a:rPr>
              <a:t>SKIPPED QUESTIONS</a:t>
            </a:r>
          </a:p>
        </p:txBody>
      </p:sp>
      <p:sp>
        <p:nvSpPr>
          <p:cNvPr id="10" name="">
            <a:extLst xmlns:a="http://schemas.openxmlformats.org/drawingml/2006/main">
              <a:ext uri="{FF2B5EF4-FFF2-40B4-BE49-F238E27FC236}">
                <a16:creationId xmlns:a16="http://schemas.microsoft.com/office/drawing/2014/main" id="{060FF20D-E04D-4E96-B18C-4BFBB214E34A}"/>
              </a:ext>
            </a:extLst>
          </p:cNvPr>
          <p:cNvSpPr>
            <a:spLocks xmlns:a="http://schemas.openxmlformats.org/drawingml/2006/main" noGrp="1"/>
          </p:cNvSpPr>
          <p:nvPr/>
        </p:nvSpPr>
        <p:spPr>
          <a:xfrm xmlns:a="http://schemas.openxmlformats.org/drawingml/2006/main">
            <a:off x="83058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stStyle>
          <a:p xmlns:a="http://schemas.openxmlformats.org/drawingml/2006/main">
            <a:pPr algn="l">
              <a:defRPr sz="2025" b="1">
                <a:solidFill>
                  <a:srgbClr val="203247"/>
                </a:solidFill>
              </a:defRPr>
            </a:pPr>
            <a:r>
              <a:rPr sz="2025" b="1">
                <a:solidFill>
                  <a:srgbClr val="203247"/>
                </a:solidFill>
              </a:rPr>
              <a:t>0-15 point buffer</a:t>
            </a:r>
          </a:p>
        </p:txBody>
      </p:sp>
      <p:sp>
        <p:nvSpPr>
          <p:cNvPr id="11" name="">
            <a:extLst xmlns:a="http://schemas.openxmlformats.org/drawingml/2006/main">
              <a:ext uri="{FF2B5EF4-FFF2-40B4-BE49-F238E27FC236}">
                <a16:creationId xmlns:a16="http://schemas.microsoft.com/office/drawing/2014/main" id="{B3932DC8-3C54-4FC3-8C3A-5B54A48736E0}"/>
              </a:ext>
            </a:extLst>
          </p:cNvPr>
          <p:cNvSpPr>
            <a:spLocks xmlns:a="http://schemas.openxmlformats.org/drawingml/2006/main" noGrp="1"/>
          </p:cNvSpPr>
          <p:nvPr/>
        </p:nvSpPr>
        <p:spPr>
          <a:xfrm xmlns:a="http://schemas.openxmlformats.org/drawingml/2006/main">
            <a:off x="37909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stStyle>
          <a:p xmlns:a="http://schemas.openxmlformats.org/drawingml/2006/main">
            <a:pPr algn="ctr">
              <a:defRPr sz="2550" b="1">
                <a:solidFill>
                  <a:srgbClr val="59677A"/>
                </a:solidFill>
              </a:defRPr>
            </a:pPr>
            <a:r>
              <a:rPr sz="2550" b="1">
                <a:solidFill>
                  <a:srgbClr val="59677A"/>
                </a:solidFill>
              </a:rPr>
              <a:t>+</a:t>
            </a:r>
          </a:p>
        </p:txBody>
      </p:sp>
      <p:sp>
        <p:nvSpPr>
          <p:cNvPr id="12" name="">
            <a:extLst xmlns:a="http://schemas.openxmlformats.org/drawingml/2006/main">
              <a:ext uri="{FF2B5EF4-FFF2-40B4-BE49-F238E27FC236}">
                <a16:creationId xmlns:a16="http://schemas.microsoft.com/office/drawing/2014/main" id="{7B2FF1D0-FF7F-4EF6-828E-96AE8836AC50}"/>
              </a:ext>
            </a:extLst>
          </p:cNvPr>
          <p:cNvSpPr>
            <a:spLocks xmlns:a="http://schemas.openxmlformats.org/drawingml/2006/main" noGrp="1"/>
          </p:cNvSpPr>
          <p:nvPr/>
        </p:nvSpPr>
        <p:spPr>
          <a:xfrm xmlns:a="http://schemas.openxmlformats.org/drawingml/2006/main">
            <a:off x="75628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stStyle>
          <a:p xmlns:a="http://schemas.openxmlformats.org/drawingml/2006/main">
            <a:pPr algn="ctr">
              <a:defRPr sz="2550" b="1">
                <a:solidFill>
                  <a:srgbClr val="59677A"/>
                </a:solidFill>
              </a:defRPr>
            </a:pPr>
            <a:r>
              <a:rPr sz="2550" b="1">
                <a:solidFill>
                  <a:srgbClr val="59677A"/>
                </a:solidFill>
              </a:rPr>
              <a:t>+</a:t>
            </a:r>
          </a:p>
        </p:txBody>
      </p:sp>
      <p:sp>
        <p:nvSpPr>
          <p:cNvPr id="13" name="">
            <a:extLst xmlns:a="http://schemas.openxmlformats.org/drawingml/2006/main">
              <a:ext uri="{FF2B5EF4-FFF2-40B4-BE49-F238E27FC236}">
                <a16:creationId xmlns:a16="http://schemas.microsoft.com/office/drawing/2014/main" id="{424751C4-B640-404D-952C-E559A6711E67}"/>
              </a:ext>
            </a:extLst>
          </p:cNvPr>
          <p:cNvSpPr>
            <a:spLocks xmlns:a="http://schemas.openxmlformats.org/drawingml/2006/main" noGrp="1"/>
          </p:cNvSpPr>
          <p:nvPr/>
        </p:nvSpPr>
        <p:spPr>
          <a:xfrm xmlns:a="http://schemas.openxmlformats.org/drawingml/2006/main">
            <a:off x="762000" y="3314700"/>
            <a:ext cx="1040130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F4E5205-C023-418E-9E9E-757F4749FE2B}"/>
              </a:ext>
            </a:extLst>
          </p:cNvPr>
          <p:cNvSpPr>
            <a:spLocks xmlns:a="http://schemas.openxmlformats.org/drawingml/2006/main" noGrp="1"/>
          </p:cNvSpPr>
          <p:nvPr/>
        </p:nvSpPr>
        <p:spPr>
          <a:xfrm xmlns:a="http://schemas.openxmlformats.org/drawingml/2006/main">
            <a:off x="8763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stStyle>
          <a:p xmlns:a="http://schemas.openxmlformats.org/drawingml/2006/main">
            <a:pPr algn="ctr">
              <a:defRPr sz="2100" b="1">
                <a:solidFill>
                  <a:srgbClr val="2F7D68"/>
                </a:solidFill>
              </a:defRPr>
            </a:pPr>
            <a:r>
              <a:rPr sz="2100" b="1">
                <a:solidFill>
                  <a:srgbClr val="2F7D68"/>
                </a:solidFill>
              </a:rPr>
              <a:t>0-29</a:t>
            </a:r>
          </a:p>
        </p:txBody>
      </p:sp>
      <p:sp>
        <p:nvSpPr>
          <p:cNvPr id="15" name="">
            <a:extLst xmlns:a="http://schemas.openxmlformats.org/drawingml/2006/main">
              <a:ext uri="{FF2B5EF4-FFF2-40B4-BE49-F238E27FC236}">
                <a16:creationId xmlns:a16="http://schemas.microsoft.com/office/drawing/2014/main" id="{CC66281D-E778-4DC8-ACDC-C024D9438CF2}"/>
              </a:ext>
            </a:extLst>
          </p:cNvPr>
          <p:cNvSpPr>
            <a:spLocks xmlns:a="http://schemas.openxmlformats.org/drawingml/2006/main" noGrp="1"/>
          </p:cNvSpPr>
          <p:nvPr/>
        </p:nvSpPr>
        <p:spPr>
          <a:xfrm xmlns:a="http://schemas.openxmlformats.org/drawingml/2006/main">
            <a:off x="8763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stStyle>
          <a:p xmlns:a="http://schemas.openxmlformats.org/drawingml/2006/main">
            <a:pPr algn="ctr">
              <a:defRPr sz="1500" b="0">
                <a:solidFill>
                  <a:srgbClr val="59677A"/>
                </a:solidFill>
              </a:defRPr>
            </a:pPr>
            <a:r>
              <a:rPr sz="1500" b="0">
                <a:solidFill>
                  <a:srgbClr val="59677A"/>
                </a:solidFill>
              </a:rPr>
              <a:t>Low</a:t>
            </a:r>
          </a:p>
        </p:txBody>
      </p:sp>
      <p:sp>
        <p:nvSpPr>
          <p:cNvPr id="16" name="">
            <a:extLst xmlns:a="http://schemas.openxmlformats.org/drawingml/2006/main">
              <a:ext uri="{FF2B5EF4-FFF2-40B4-BE49-F238E27FC236}">
                <a16:creationId xmlns:a16="http://schemas.microsoft.com/office/drawing/2014/main" id="{FC7BA86F-83D6-4DBB-8A3A-79EFD2D5E601}"/>
              </a:ext>
            </a:extLst>
          </p:cNvPr>
          <p:cNvSpPr>
            <a:spLocks xmlns:a="http://schemas.openxmlformats.org/drawingml/2006/main" noGrp="1"/>
          </p:cNvSpPr>
          <p:nvPr/>
        </p:nvSpPr>
        <p:spPr>
          <a:xfrm xmlns:a="http://schemas.openxmlformats.org/drawingml/2006/main">
            <a:off x="485775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C9793A"/>
                </a:solidFill>
              </a:defRPr>
            </a:defPPr>
          </a:lstStyle>
          <a:p xmlns:a="http://schemas.openxmlformats.org/drawingml/2006/main">
            <a:pPr algn="ctr">
              <a:defRPr sz="2100" b="1">
                <a:solidFill>
                  <a:srgbClr val="C9793A"/>
                </a:solidFill>
              </a:defRPr>
            </a:pPr>
            <a:r>
              <a:rPr sz="2100" b="1">
                <a:solidFill>
                  <a:srgbClr val="C9793A"/>
                </a:solidFill>
              </a:rPr>
              <a:t>30-59</a:t>
            </a:r>
          </a:p>
        </p:txBody>
      </p:sp>
      <p:sp>
        <p:nvSpPr>
          <p:cNvPr id="17" name="">
            <a:extLst xmlns:a="http://schemas.openxmlformats.org/drawingml/2006/main">
              <a:ext uri="{FF2B5EF4-FFF2-40B4-BE49-F238E27FC236}">
                <a16:creationId xmlns:a16="http://schemas.microsoft.com/office/drawing/2014/main" id="{628D925D-C5F9-44E9-82BA-1346071AA7D9}"/>
              </a:ext>
            </a:extLst>
          </p:cNvPr>
          <p:cNvSpPr>
            <a:spLocks xmlns:a="http://schemas.openxmlformats.org/drawingml/2006/main" noGrp="1"/>
          </p:cNvSpPr>
          <p:nvPr/>
        </p:nvSpPr>
        <p:spPr>
          <a:xfrm xmlns:a="http://schemas.openxmlformats.org/drawingml/2006/main">
            <a:off x="485775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stStyle>
          <a:p xmlns:a="http://schemas.openxmlformats.org/drawingml/2006/main">
            <a:pPr algn="ctr">
              <a:defRPr sz="1500" b="0">
                <a:solidFill>
                  <a:srgbClr val="59677A"/>
                </a:solidFill>
              </a:defRPr>
            </a:pPr>
            <a:r>
              <a:rPr sz="1500" b="0">
                <a:solidFill>
                  <a:srgbClr val="59677A"/>
                </a:solidFill>
              </a:rPr>
              <a:t>Moderate</a:t>
            </a:r>
          </a:p>
        </p:txBody>
      </p:sp>
      <p:sp>
        <p:nvSpPr>
          <p:cNvPr id="18" name="">
            <a:extLst xmlns:a="http://schemas.openxmlformats.org/drawingml/2006/main">
              <a:ext uri="{FF2B5EF4-FFF2-40B4-BE49-F238E27FC236}">
                <a16:creationId xmlns:a16="http://schemas.microsoft.com/office/drawing/2014/main" id="{BE26A07A-6FF6-46B9-8B07-8C7636F47C1E}"/>
              </a:ext>
            </a:extLst>
          </p:cNvPr>
          <p:cNvSpPr>
            <a:spLocks xmlns:a="http://schemas.openxmlformats.org/drawingml/2006/main" noGrp="1"/>
          </p:cNvSpPr>
          <p:nvPr/>
        </p:nvSpPr>
        <p:spPr>
          <a:xfrm xmlns:a="http://schemas.openxmlformats.org/drawingml/2006/main">
            <a:off x="88392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B75045"/>
                </a:solidFill>
              </a:defRPr>
            </a:defPPr>
          </a:lstStyle>
          <a:p xmlns:a="http://schemas.openxmlformats.org/drawingml/2006/main">
            <a:pPr algn="ctr">
              <a:defRPr sz="2100" b="1">
                <a:solidFill>
                  <a:srgbClr val="B75045"/>
                </a:solidFill>
              </a:defRPr>
            </a:pPr>
            <a:r>
              <a:rPr sz="2100" b="1">
                <a:solidFill>
                  <a:srgbClr val="B75045"/>
                </a:solidFill>
              </a:rPr>
              <a:t>60-100</a:t>
            </a:r>
          </a:p>
        </p:txBody>
      </p:sp>
      <p:sp>
        <p:nvSpPr>
          <p:cNvPr id="19" name="">
            <a:extLst xmlns:a="http://schemas.openxmlformats.org/drawingml/2006/main">
              <a:ext uri="{FF2B5EF4-FFF2-40B4-BE49-F238E27FC236}">
                <a16:creationId xmlns:a16="http://schemas.microsoft.com/office/drawing/2014/main" id="{6D28081E-79E3-4894-A2E8-8E0B504023AF}"/>
              </a:ext>
            </a:extLst>
          </p:cNvPr>
          <p:cNvSpPr>
            <a:spLocks xmlns:a="http://schemas.openxmlformats.org/drawingml/2006/main" noGrp="1"/>
          </p:cNvSpPr>
          <p:nvPr/>
        </p:nvSpPr>
        <p:spPr>
          <a:xfrm xmlns:a="http://schemas.openxmlformats.org/drawingml/2006/main">
            <a:off x="88392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stStyle>
          <a:p xmlns:a="http://schemas.openxmlformats.org/drawingml/2006/main">
            <a:pPr algn="ctr">
              <a:defRPr sz="1500" b="0">
                <a:solidFill>
                  <a:srgbClr val="59677A"/>
                </a:solidFill>
              </a:defRPr>
            </a:pPr>
            <a:r>
              <a:rPr sz="1500" b="0">
                <a:solidFill>
                  <a:srgbClr val="59677A"/>
                </a:solidFill>
              </a:rPr>
              <a:t>High</a:t>
            </a:r>
          </a:p>
        </p:txBody>
      </p:sp>
      <p:sp>
        <p:nvSpPr>
          <p:cNvPr id="20" name="">
            <a:extLst xmlns:a="http://schemas.openxmlformats.org/drawingml/2006/main">
              <a:ext uri="{FF2B5EF4-FFF2-40B4-BE49-F238E27FC236}">
                <a16:creationId xmlns:a16="http://schemas.microsoft.com/office/drawing/2014/main" id="{F272E5E6-5902-4536-A4C8-3AACC7C5CAF3}"/>
              </a:ext>
            </a:extLst>
          </p:cNvPr>
          <p:cNvSpPr>
            <a:spLocks xmlns:a="http://schemas.openxmlformats.org/drawingml/2006/main" noGrp="1"/>
          </p:cNvSpPr>
          <p:nvPr/>
        </p:nvSpPr>
        <p:spPr>
          <a:xfrm xmlns:a="http://schemas.openxmlformats.org/drawingml/2006/main">
            <a:off x="1466850" y="4800600"/>
            <a:ext cx="9258300" cy="628650"/>
          </a:xfrm>
          <a:prstGeom xmlns:a="http://schemas.openxmlformats.org/drawingml/2006/main" prst="roundRect">
            <a:avLst>
              <a:gd name="adj" fmla="val 12121"/>
            </a:avLst>
          </a:prstGeom>
          <a:solidFill xmlns:a="http://schemas.openxmlformats.org/drawingml/2006/main">
            <a:srgbClr val="FFFDFC"/>
          </a:solidFill>
          <a:ln xmlns:a="http://schemas.openxmlformats.org/drawingml/2006/main" w="9525">
            <a:solidFill>
              <a:srgbClr val="D8D3CA"/>
            </a:solidFill>
            <a:prstDash val="solid"/>
          </a:ln>
        </p:spPr>
      </p:sp>
      <p:sp>
        <p:nvSpPr>
          <p:cNvPr id="21" name="">
            <a:extLst xmlns:a="http://schemas.openxmlformats.org/drawingml/2006/main">
              <a:ext uri="{FF2B5EF4-FFF2-40B4-BE49-F238E27FC236}">
                <a16:creationId xmlns:a16="http://schemas.microsoft.com/office/drawing/2014/main" id="{832B32B1-810E-4F35-BDD4-AF498F1821EF}"/>
              </a:ext>
            </a:extLst>
          </p:cNvPr>
          <p:cNvSpPr>
            <a:spLocks xmlns:a="http://schemas.openxmlformats.org/drawingml/2006/main" noGrp="1"/>
          </p:cNvSpPr>
          <p:nvPr/>
        </p:nvSpPr>
        <p:spPr>
          <a:xfrm xmlns:a="http://schemas.openxmlformats.org/drawingml/2006/main">
            <a:off x="1657350" y="48958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050" b="1">
                <a:solidFill>
                  <a:srgbClr val="1E5D78"/>
                </a:solidFill>
              </a:defRPr>
            </a:defPPr>
          </a:lstStyle>
          <a:p xmlns:a="http://schemas.openxmlformats.org/drawingml/2006/main">
            <a:pPr algn="l">
              <a:defRPr sz="1050" b="1">
                <a:solidFill>
                  <a:srgbClr val="1E5D78"/>
                </a:solidFill>
              </a:defRPr>
            </a:pPr>
            <a:r>
              <a:rPr sz="1050" b="1">
                <a:solidFill>
                  <a:srgbClr val="1E5D78"/>
                </a:solidFill>
              </a:rPr>
              <a:t>WORKED EXAMPLE</a:t>
            </a:r>
          </a:p>
        </p:txBody>
      </p:sp>
      <p:sp>
        <p:nvSpPr>
          <p:cNvPr id="22" name="">
            <a:extLst xmlns:a="http://schemas.openxmlformats.org/drawingml/2006/main">
              <a:ext uri="{FF2B5EF4-FFF2-40B4-BE49-F238E27FC236}">
                <a16:creationId xmlns:a16="http://schemas.microsoft.com/office/drawing/2014/main" id="{5562878E-4280-4BA1-8409-E82E68A618B6}"/>
              </a:ext>
            </a:extLst>
          </p:cNvPr>
          <p:cNvSpPr>
            <a:spLocks xmlns:a="http://schemas.openxmlformats.org/drawingml/2006/main" noGrp="1"/>
          </p:cNvSpPr>
          <p:nvPr/>
        </p:nvSpPr>
        <p:spPr>
          <a:xfrm xmlns:a="http://schemas.openxmlformats.org/drawingml/2006/main">
            <a:off x="1657350" y="51244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203247"/>
                </a:solidFill>
              </a:defRPr>
            </a:defPPr>
          </a:lstStyle>
          <a:p xmlns:a="http://schemas.openxmlformats.org/drawingml/2006/main">
            <a:pPr algn="l">
              <a:defRPr sz="1350" b="1">
                <a:solidFill>
                  <a:srgbClr val="203247"/>
                </a:solidFill>
              </a:defRPr>
            </a:pPr>
            <a:r>
              <a:rPr sz="1350" b="1">
                <a:solidFill>
                  <a:srgbClr val="203247"/>
                </a:solidFill>
              </a:rPr>
              <a:t>Visible hazards 28   +   Follow-up concerns 12   +   Skip buffer 0   =   Room score 40  Moderate</a:t>
            </a:r>
          </a:p>
        </p:txBody>
      </p:sp>
      <p:sp>
        <p:nvSpPr>
          <p:cNvPr id="23" name="">
            <a:extLst xmlns:a="http://schemas.openxmlformats.org/drawingml/2006/main">
              <a:ext uri="{FF2B5EF4-FFF2-40B4-BE49-F238E27FC236}">
                <a16:creationId xmlns:a16="http://schemas.microsoft.com/office/drawing/2014/main" id="{8FDABB89-6082-4548-A3CB-D71783F1A189}"/>
              </a:ext>
            </a:extLst>
          </p:cNvPr>
          <p:cNvSpPr>
            <a:spLocks xmlns:a="http://schemas.openxmlformats.org/drawingml/2006/main" noGrp="1"/>
          </p:cNvSpPr>
          <p:nvPr/>
        </p:nvSpPr>
        <p:spPr>
          <a:xfrm xmlns:a="http://schemas.openxmlformats.org/drawingml/2006/main">
            <a:off x="762000" y="56197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stStyle>
          <a:p xmlns:a="http://schemas.openxmlformats.org/drawingml/2006/main">
            <a:pPr algn="ctr">
              <a:defRPr sz="1275" b="1">
                <a:solidFill>
                  <a:srgbClr val="203247"/>
                </a:solidFill>
              </a:defRPr>
            </a:pPr>
            <a:r>
              <a:rPr sz="1275" b="1">
                <a:solidFill>
                  <a:srgbClr val="203247"/>
                </a:solidFill>
              </a:rPr>
              <a:t>Fallback rule: if an AI point value is missing or invalid, the app uses the category's tested default. Final score = min(100, total).</a:t>
            </a:r>
          </a:p>
        </p:txBody>
      </p:sp>
    </p:spTree>
    <p:extLst>
      <p:ext uri="{BB962C8B-B14F-4D97-AF65-F5344CB8AC3E}">
        <p14:creationId xmlns:p14="http://schemas.microsoft.com/office/powerpoint/2010/main" val="35953988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61545C-E96E-4175-BE12-421C4417259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900772-0247-46E9-8292-2A82CD8A374E}"/>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EA8CE6DD-11E6-443E-8F45-9B25059127E8}"/>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940A3B9B-27FF-43E2-B6C8-DAC015A46ABF}"/>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F9630089-A8B2-48F8-AF2F-FDEA3B7D4802}"/>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A62B60BB-A7C2-424A-98CA-6D48C62C65B1}"/>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E5D78"/>
                </a:solidFill>
              </a:defRPr>
            </a:defPPr>
          </a:lstStyle>
          <a:p xmlns:a="http://schemas.openxmlformats.org/drawingml/2006/main">
            <a:pPr algn="l">
              <a:defRPr sz="1350" b="1">
                <a:solidFill>
                  <a:srgbClr val="1E5D78"/>
                </a:solidFill>
              </a:defRPr>
            </a:pPr>
            <a:r>
              <a:rPr sz="1350" b="1">
                <a:solidFill>
                  <a:srgbClr val="1E5D78"/>
                </a:solidFill>
              </a:rPr>
              <a:t>34 of 35 reference hazards detected  |  97.1% in this test set</a:t>
            </a:r>
          </a:p>
        </p:txBody>
      </p:sp>
    </p:spTree>
    <p:extLst>
      <p:ext uri="{BB962C8B-B14F-4D97-AF65-F5344CB8AC3E}">
        <p14:creationId xmlns:p14="http://schemas.microsoft.com/office/powerpoint/2010/main" val="193313023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40E5013-30AE-4369-B5E0-DAC18F29EB1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BAB3FC-C78D-41E2-9262-F39CEABCA854}"/>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stStyle>
          <a:p xmlns:a="http://schemas.openxmlformats.org/drawingml/2006/main">
            <a:pPr algn="l">
              <a:defRPr sz="2700" b="1">
                <a:solidFill>
                  <a:srgbClr val="203247"/>
                </a:solidFill>
              </a:defRPr>
            </a:pPr>
            <a:r>
              <a:rPr sz="2700" b="1">
                <a:solidFill>
                  <a:srgbClr val="203247"/>
                </a:solidFill>
              </a:rPr>
              <a:t>Design decisions that make the app usable</a:t>
            </a:r>
          </a:p>
        </p:txBody>
      </p:sp>
      <p:sp>
        <p:nvSpPr>
          <p:cNvPr id="3" name="">
            <a:extLst xmlns:a="http://schemas.openxmlformats.org/drawingml/2006/main">
              <a:ext uri="{FF2B5EF4-FFF2-40B4-BE49-F238E27FC236}">
                <a16:creationId xmlns:a16="http://schemas.microsoft.com/office/drawing/2014/main" id="{46057232-B0DA-4DCA-A9DC-36B5774FB8D5}"/>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stStyle>
          <a:p xmlns:a="http://schemas.openxmlformats.org/drawingml/2006/main">
            <a:pPr algn="l">
              <a:defRPr sz="1425" b="0">
                <a:solidFill>
                  <a:srgbClr val="59677A"/>
                </a:solidFill>
              </a:defRPr>
            </a:pPr>
            <a:r>
              <a:rPr sz="1425" b="0">
                <a:solidFill>
                  <a:srgbClr val="59677A"/>
                </a:solidFill>
              </a:rPr>
              <a:t>Each decision solves a specific risk in an AI-assisted safety tool.</a:t>
            </a:r>
          </a:p>
        </p:txBody>
      </p:sp>
      <p:sp>
        <p:nvSpPr>
          <p:cNvPr id="4" name="">
            <a:extLst xmlns:a="http://schemas.openxmlformats.org/drawingml/2006/main">
              <a:ext uri="{FF2B5EF4-FFF2-40B4-BE49-F238E27FC236}">
                <a16:creationId xmlns:a16="http://schemas.microsoft.com/office/drawing/2014/main" id="{FB25A429-ED0F-453A-8DC8-E34B950EEB7C}"/>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8CCA93C5-4EE7-46F4-ADA2-8D44108FA6FE}"/>
              </a:ext>
            </a:extLst>
          </p:cNvPr>
          <p:cNvSpPr>
            <a:spLocks xmlns:a="http://schemas.openxmlformats.org/drawingml/2006/main" noGrp="1"/>
          </p:cNvSpPr>
          <p:nvPr/>
        </p:nvSpPr>
        <p:spPr>
          <a:xfrm xmlns:a="http://schemas.openxmlformats.org/drawingml/2006/main">
            <a:off x="62865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3132B8A0-4612-4070-A1CF-5E748F32D0FE}"/>
              </a:ext>
            </a:extLst>
          </p:cNvPr>
          <p:cNvSpPr>
            <a:spLocks xmlns:a="http://schemas.openxmlformats.org/drawingml/2006/main" noGrp="1"/>
          </p:cNvSpPr>
          <p:nvPr/>
        </p:nvSpPr>
        <p:spPr>
          <a:xfrm xmlns:a="http://schemas.openxmlformats.org/drawingml/2006/main">
            <a:off x="628650" y="1752600"/>
            <a:ext cx="76200" cy="14668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17887B-6AC9-44D9-8701-1CDFD4DA73EF}"/>
              </a:ext>
            </a:extLst>
          </p:cNvPr>
          <p:cNvSpPr>
            <a:spLocks xmlns:a="http://schemas.openxmlformats.org/drawingml/2006/main" noGrp="1"/>
          </p:cNvSpPr>
          <p:nvPr/>
        </p:nvSpPr>
        <p:spPr>
          <a:xfrm xmlns:a="http://schemas.openxmlformats.org/drawingml/2006/main">
            <a:off x="89535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stStyle>
          <a:p xmlns:a="http://schemas.openxmlformats.org/drawingml/2006/main">
            <a:pPr algn="l">
              <a:defRPr sz="1275" b="1">
                <a:solidFill>
                  <a:srgbClr val="1E5D78"/>
                </a:solidFill>
              </a:defRPr>
            </a:pPr>
            <a:r>
              <a:rPr sz="1275" b="1">
                <a:solidFill>
                  <a:srgbClr val="1E5D78"/>
                </a:solidFill>
              </a:rPr>
              <a:t>CONSISTENCY</a:t>
            </a:r>
          </a:p>
        </p:txBody>
      </p:sp>
      <p:sp>
        <p:nvSpPr>
          <p:cNvPr id="8" name="">
            <a:extLst xmlns:a="http://schemas.openxmlformats.org/drawingml/2006/main">
              <a:ext uri="{FF2B5EF4-FFF2-40B4-BE49-F238E27FC236}">
                <a16:creationId xmlns:a16="http://schemas.microsoft.com/office/drawing/2014/main" id="{13EEC128-C177-4E44-955F-7A4992738151}"/>
              </a:ext>
            </a:extLst>
          </p:cNvPr>
          <p:cNvSpPr>
            <a:spLocks xmlns:a="http://schemas.openxmlformats.org/drawingml/2006/main" noGrp="1"/>
          </p:cNvSpPr>
          <p:nvPr/>
        </p:nvSpPr>
        <p:spPr>
          <a:xfrm xmlns:a="http://schemas.openxmlformats.org/drawingml/2006/main">
            <a:off x="89535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stStyle>
          <a:p xmlns:a="http://schemas.openxmlformats.org/drawingml/2006/main">
            <a:pPr algn="l">
              <a:defRPr sz="1350" b="0">
                <a:solidFill>
                  <a:srgbClr val="2C3E50"/>
                </a:solidFill>
              </a:defRPr>
            </a:pPr>
            <a:r>
              <a:rPr sz="1350" b="0">
                <a:solidFill>
                  <a:srgbClr val="2C3E50"/>
                </a:solidFill>
              </a:rPr>
              <a:t>AI proposes 1-15 points.</a:t>
            </a:r>
          </a:p>
          <a:p xmlns:a="http://schemas.openxmlformats.org/drawingml/2006/main">
            <a:pPr algn="l">
              <a:defRPr sz="1350" b="0">
                <a:solidFill>
                  <a:srgbClr val="2C3E50"/>
                </a:solidFill>
              </a:defRPr>
            </a:pPr>
            <a:r>
              <a:rPr sz="1350" b="0">
                <a:solidFill>
                  <a:srgbClr val="2C3E50"/>
                </a:solidFill>
              </a:rPr>
              <a:t>Python clamps values, applies tested fallbacks, and caps the room at 100.</a:t>
            </a:r>
          </a:p>
        </p:txBody>
      </p:sp>
      <p:sp>
        <p:nvSpPr>
          <p:cNvPr id="9" name="">
            <a:extLst xmlns:a="http://schemas.openxmlformats.org/drawingml/2006/main">
              <a:ext uri="{FF2B5EF4-FFF2-40B4-BE49-F238E27FC236}">
                <a16:creationId xmlns:a16="http://schemas.microsoft.com/office/drawing/2014/main" id="{858B4251-9721-4C04-BBD3-E26754DB85E3}"/>
              </a:ext>
            </a:extLst>
          </p:cNvPr>
          <p:cNvSpPr>
            <a:spLocks xmlns:a="http://schemas.openxmlformats.org/drawingml/2006/main" noGrp="1"/>
          </p:cNvSpPr>
          <p:nvPr/>
        </p:nvSpPr>
        <p:spPr>
          <a:xfrm xmlns:a="http://schemas.openxmlformats.org/drawingml/2006/main">
            <a:off x="609600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AAB4558D-DF2D-4577-9E65-B9C6BEBF5EEB}"/>
              </a:ext>
            </a:extLst>
          </p:cNvPr>
          <p:cNvSpPr>
            <a:spLocks xmlns:a="http://schemas.openxmlformats.org/drawingml/2006/main" noGrp="1"/>
          </p:cNvSpPr>
          <p:nvPr/>
        </p:nvSpPr>
        <p:spPr>
          <a:xfrm xmlns:a="http://schemas.openxmlformats.org/drawingml/2006/main">
            <a:off x="6096000" y="1752600"/>
            <a:ext cx="76200" cy="1466850"/>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AF8127-4296-4E93-86B4-B5A4CD36076C}"/>
              </a:ext>
            </a:extLst>
          </p:cNvPr>
          <p:cNvSpPr>
            <a:spLocks xmlns:a="http://schemas.openxmlformats.org/drawingml/2006/main" noGrp="1"/>
          </p:cNvSpPr>
          <p:nvPr/>
        </p:nvSpPr>
        <p:spPr>
          <a:xfrm xmlns:a="http://schemas.openxmlformats.org/drawingml/2006/main">
            <a:off x="636270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2F7D68"/>
                </a:solidFill>
              </a:defRPr>
            </a:defPPr>
          </a:lstStyle>
          <a:p xmlns:a="http://schemas.openxmlformats.org/drawingml/2006/main">
            <a:pPr algn="l">
              <a:defRPr sz="1275" b="1">
                <a:solidFill>
                  <a:srgbClr val="2F7D68"/>
                </a:solidFill>
              </a:defRPr>
            </a:pPr>
            <a:r>
              <a:rPr sz="1275" b="1">
                <a:solidFill>
                  <a:srgbClr val="2F7D68"/>
                </a:solidFill>
              </a:rPr>
              <a:t>UNCERTAINTY</a:t>
            </a:r>
          </a:p>
        </p:txBody>
      </p:sp>
      <p:sp>
        <p:nvSpPr>
          <p:cNvPr id="12" name="">
            <a:extLst xmlns:a="http://schemas.openxmlformats.org/drawingml/2006/main">
              <a:ext uri="{FF2B5EF4-FFF2-40B4-BE49-F238E27FC236}">
                <a16:creationId xmlns:a16="http://schemas.microsoft.com/office/drawing/2014/main" id="{BDDE7D24-0E93-475E-BEAF-3AA04863FC7A}"/>
              </a:ext>
            </a:extLst>
          </p:cNvPr>
          <p:cNvSpPr>
            <a:spLocks xmlns:a="http://schemas.openxmlformats.org/drawingml/2006/main" noGrp="1"/>
          </p:cNvSpPr>
          <p:nvPr/>
        </p:nvSpPr>
        <p:spPr>
          <a:xfrm xmlns:a="http://schemas.openxmlformats.org/drawingml/2006/main">
            <a:off x="636270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stStyle>
          <a:p xmlns:a="http://schemas.openxmlformats.org/drawingml/2006/main">
            <a:pPr algn="l">
              <a:defRPr sz="1350" b="0">
                <a:solidFill>
                  <a:srgbClr val="2C3E50"/>
                </a:solidFill>
              </a:defRPr>
            </a:pPr>
            <a:r>
              <a:rPr sz="1350" b="0">
                <a:solidFill>
                  <a:srgbClr val="2C3E50"/>
                </a:solidFill>
              </a:rPr>
              <a:t>The model does not guess hidden facts.</a:t>
            </a:r>
          </a:p>
          <a:p xmlns:a="http://schemas.openxmlformats.org/drawingml/2006/main">
            <a:pPr algn="l">
              <a:defRPr sz="1350" b="0">
                <a:solidFill>
                  <a:srgbClr val="2C3E50"/>
                </a:solidFill>
              </a:defRPr>
            </a:pPr>
            <a:r>
              <a:rPr sz="1350" b="0">
                <a:solidFill>
                  <a:srgbClr val="2C3E50"/>
                </a:solidFill>
              </a:rPr>
              <a:t>It turns important unknowns into simple follow-up questions.</a:t>
            </a:r>
          </a:p>
        </p:txBody>
      </p:sp>
      <p:sp>
        <p:nvSpPr>
          <p:cNvPr id="13" name="">
            <a:extLst xmlns:a="http://schemas.openxmlformats.org/drawingml/2006/main">
              <a:ext uri="{FF2B5EF4-FFF2-40B4-BE49-F238E27FC236}">
                <a16:creationId xmlns:a16="http://schemas.microsoft.com/office/drawing/2014/main" id="{5375CD36-E131-4963-B398-FF8A85CB17A6}"/>
              </a:ext>
            </a:extLst>
          </p:cNvPr>
          <p:cNvSpPr>
            <a:spLocks xmlns:a="http://schemas.openxmlformats.org/drawingml/2006/main" noGrp="1"/>
          </p:cNvSpPr>
          <p:nvPr/>
        </p:nvSpPr>
        <p:spPr>
          <a:xfrm xmlns:a="http://schemas.openxmlformats.org/drawingml/2006/main">
            <a:off x="62865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122708DF-8983-49C6-AE26-84D7B4A61918}"/>
              </a:ext>
            </a:extLst>
          </p:cNvPr>
          <p:cNvSpPr>
            <a:spLocks xmlns:a="http://schemas.openxmlformats.org/drawingml/2006/main" noGrp="1"/>
          </p:cNvSpPr>
          <p:nvPr/>
        </p:nvSpPr>
        <p:spPr>
          <a:xfrm xmlns:a="http://schemas.openxmlformats.org/drawingml/2006/main">
            <a:off x="628650" y="3562350"/>
            <a:ext cx="76200" cy="1466850"/>
          </a:xfrm>
          <a:prstGeom xmlns:a="http://schemas.openxmlformats.org/drawingml/2006/main" prst="rect">
            <a:avLst/>
          </a:prstGeom>
          <a:solidFill xmlns:a="http://schemas.openxmlformats.org/drawingml/2006/main">
            <a:srgbClr val="C9793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1A956E-8B8D-4E01-85D3-0EDC47575890}"/>
              </a:ext>
            </a:extLst>
          </p:cNvPr>
          <p:cNvSpPr>
            <a:spLocks xmlns:a="http://schemas.openxmlformats.org/drawingml/2006/main" noGrp="1"/>
          </p:cNvSpPr>
          <p:nvPr/>
        </p:nvSpPr>
        <p:spPr>
          <a:xfrm xmlns:a="http://schemas.openxmlformats.org/drawingml/2006/main">
            <a:off x="89535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C9793A"/>
                </a:solidFill>
              </a:defRPr>
            </a:defPPr>
          </a:lstStyle>
          <a:p xmlns:a="http://schemas.openxmlformats.org/drawingml/2006/main">
            <a:pPr algn="l">
              <a:defRPr sz="1275" b="1">
                <a:solidFill>
                  <a:srgbClr val="C9793A"/>
                </a:solidFill>
              </a:defRPr>
            </a:pPr>
            <a:r>
              <a:rPr sz="1275" b="1">
                <a:solidFill>
                  <a:srgbClr val="C9793A"/>
                </a:solidFill>
              </a:rPr>
              <a:t>ACTION</a:t>
            </a:r>
          </a:p>
        </p:txBody>
      </p:sp>
      <p:sp>
        <p:nvSpPr>
          <p:cNvPr id="16" name="">
            <a:extLst xmlns:a="http://schemas.openxmlformats.org/drawingml/2006/main">
              <a:ext uri="{FF2B5EF4-FFF2-40B4-BE49-F238E27FC236}">
                <a16:creationId xmlns:a16="http://schemas.microsoft.com/office/drawing/2014/main" id="{92379C71-03A2-4FE4-8132-E820D4AB2B90}"/>
              </a:ext>
            </a:extLst>
          </p:cNvPr>
          <p:cNvSpPr>
            <a:spLocks xmlns:a="http://schemas.openxmlformats.org/drawingml/2006/main" noGrp="1"/>
          </p:cNvSpPr>
          <p:nvPr/>
        </p:nvSpPr>
        <p:spPr>
          <a:xfrm xmlns:a="http://schemas.openxmlformats.org/drawingml/2006/main">
            <a:off x="89535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stStyle>
          <a:p xmlns:a="http://schemas.openxmlformats.org/drawingml/2006/main">
            <a:pPr algn="l">
              <a:defRPr sz="1350" b="0">
                <a:solidFill>
                  <a:srgbClr val="2C3E50"/>
                </a:solidFill>
              </a:defRPr>
            </a:pPr>
            <a:r>
              <a:rPr sz="1350" b="0">
                <a:solidFill>
                  <a:srgbClr val="2C3E50"/>
                </a:solidFill>
              </a:rPr>
              <a:t>Results become three prioritized fixes,</a:t>
            </a:r>
          </a:p>
          <a:p xmlns:a="http://schemas.openxmlformats.org/drawingml/2006/main">
            <a:pPr algn="l">
              <a:defRPr sz="1350" b="0">
                <a:solidFill>
                  <a:srgbClr val="2C3E50"/>
                </a:solidFill>
              </a:defRPr>
            </a:pPr>
            <a:r>
              <a:rPr sz="1350" b="0">
                <a:solidFill>
                  <a:srgbClr val="2C3E50"/>
                </a:solidFill>
              </a:rPr>
              <a:t>impact estimates, and before/after comparisons.</a:t>
            </a:r>
          </a:p>
        </p:txBody>
      </p:sp>
      <p:sp>
        <p:nvSpPr>
          <p:cNvPr id="17" name="">
            <a:extLst xmlns:a="http://schemas.openxmlformats.org/drawingml/2006/main">
              <a:ext uri="{FF2B5EF4-FFF2-40B4-BE49-F238E27FC236}">
                <a16:creationId xmlns:a16="http://schemas.microsoft.com/office/drawing/2014/main" id="{840032D5-CCF1-404D-91BC-222A191F037A}"/>
              </a:ext>
            </a:extLst>
          </p:cNvPr>
          <p:cNvSpPr>
            <a:spLocks xmlns:a="http://schemas.openxmlformats.org/drawingml/2006/main" noGrp="1"/>
          </p:cNvSpPr>
          <p:nvPr/>
        </p:nvSpPr>
        <p:spPr>
          <a:xfrm xmlns:a="http://schemas.openxmlformats.org/drawingml/2006/main">
            <a:off x="609600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0B31F638-CEE9-4570-9D36-0A90CDD29875}"/>
              </a:ext>
            </a:extLst>
          </p:cNvPr>
          <p:cNvSpPr>
            <a:spLocks xmlns:a="http://schemas.openxmlformats.org/drawingml/2006/main" noGrp="1"/>
          </p:cNvSpPr>
          <p:nvPr/>
        </p:nvSpPr>
        <p:spPr>
          <a:xfrm xmlns:a="http://schemas.openxmlformats.org/drawingml/2006/main">
            <a:off x="6096000" y="3562350"/>
            <a:ext cx="76200" cy="1466850"/>
          </a:xfrm>
          <a:prstGeom xmlns:a="http://schemas.openxmlformats.org/drawingml/2006/main" prst="rect">
            <a:avLst/>
          </a:prstGeom>
          <a:solidFill xmlns:a="http://schemas.openxmlformats.org/drawingml/2006/main">
            <a:srgbClr val="B750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EE7279-E2DF-4ACA-A6CA-1C061824FEF7}"/>
              </a:ext>
            </a:extLst>
          </p:cNvPr>
          <p:cNvSpPr>
            <a:spLocks xmlns:a="http://schemas.openxmlformats.org/drawingml/2006/main" noGrp="1"/>
          </p:cNvSpPr>
          <p:nvPr/>
        </p:nvSpPr>
        <p:spPr>
          <a:xfrm xmlns:a="http://schemas.openxmlformats.org/drawingml/2006/main">
            <a:off x="636270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stStyle>
          <a:p xmlns:a="http://schemas.openxmlformats.org/drawingml/2006/main">
            <a:pPr algn="l">
              <a:defRPr sz="1275" b="1">
                <a:solidFill>
                  <a:srgbClr val="B75045"/>
                </a:solidFill>
              </a:defRPr>
            </a:pPr>
            <a:r>
              <a:rPr sz="1275" b="1">
                <a:solidFill>
                  <a:srgbClr val="B75045"/>
                </a:solidFill>
              </a:rPr>
              <a:t>ACCESS</a:t>
            </a:r>
          </a:p>
        </p:txBody>
      </p:sp>
      <p:sp>
        <p:nvSpPr>
          <p:cNvPr id="20" name="">
            <a:extLst xmlns:a="http://schemas.openxmlformats.org/drawingml/2006/main">
              <a:ext uri="{FF2B5EF4-FFF2-40B4-BE49-F238E27FC236}">
                <a16:creationId xmlns:a16="http://schemas.microsoft.com/office/drawing/2014/main" id="{C2A2A79C-8B92-4E32-A744-F221466695ED}"/>
              </a:ext>
            </a:extLst>
          </p:cNvPr>
          <p:cNvSpPr>
            <a:spLocks xmlns:a="http://schemas.openxmlformats.org/drawingml/2006/main" noGrp="1"/>
          </p:cNvSpPr>
          <p:nvPr/>
        </p:nvSpPr>
        <p:spPr>
          <a:xfrm xmlns:a="http://schemas.openxmlformats.org/drawingml/2006/main">
            <a:off x="636270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stStyle>
          <a:p xmlns:a="http://schemas.openxmlformats.org/drawingml/2006/main">
            <a:pPr algn="l">
              <a:defRPr sz="1350" b="0">
                <a:solidFill>
                  <a:srgbClr val="2C3E50"/>
                </a:solidFill>
              </a:defRPr>
            </a:pPr>
            <a:r>
              <a:rPr sz="1350" b="0">
                <a:solidFill>
                  <a:srgbClr val="2C3E50"/>
                </a:solidFill>
              </a:rPr>
              <a:t>Large controls, four color modes, Read Aloud, reduced motion, and a mobile-first layout.</a:t>
            </a:r>
          </a:p>
        </p:txBody>
      </p:sp>
      <p:sp>
        <p:nvSpPr>
          <p:cNvPr id="21" name="">
            <a:extLst xmlns:a="http://schemas.openxmlformats.org/drawingml/2006/main">
              <a:ext uri="{FF2B5EF4-FFF2-40B4-BE49-F238E27FC236}">
                <a16:creationId xmlns:a16="http://schemas.microsoft.com/office/drawing/2014/main" id="{5521421C-9EEB-4F82-8059-B59F1D17FEDB}"/>
              </a:ext>
            </a:extLst>
          </p:cNvPr>
          <p:cNvSpPr>
            <a:spLocks xmlns:a="http://schemas.openxmlformats.org/drawingml/2006/main" noGrp="1"/>
          </p:cNvSpPr>
          <p:nvPr/>
        </p:nvSpPr>
        <p:spPr>
          <a:xfrm xmlns:a="http://schemas.openxmlformats.org/drawingml/2006/main">
            <a:off x="1200150" y="5524500"/>
            <a:ext cx="9791700" cy="495300"/>
          </a:xfrm>
          <a:prstGeom xmlns:a="http://schemas.openxmlformats.org/drawingml/2006/main" prst="roundRect">
            <a:avLst>
              <a:gd name="adj" fmla="val 15385"/>
            </a:avLst>
          </a:prstGeom>
          <a:solidFill xmlns:a="http://schemas.openxmlformats.org/drawingml/2006/main">
            <a:srgbClr val="E3EEF1"/>
          </a:solidFill>
          <a:ln xmlns:a="http://schemas.openxmlformats.org/drawingml/2006/main" w="9525">
            <a:solidFill>
              <a:srgbClr val="1E5D78"/>
            </a:solidFill>
            <a:prstDash val="solid"/>
          </a:ln>
        </p:spPr>
      </p:sp>
      <p:sp>
        <p:nvSpPr>
          <p:cNvPr id="22" name="">
            <a:extLst xmlns:a="http://schemas.openxmlformats.org/drawingml/2006/main">
              <a:ext uri="{FF2B5EF4-FFF2-40B4-BE49-F238E27FC236}">
                <a16:creationId xmlns:a16="http://schemas.microsoft.com/office/drawing/2014/main" id="{2AD7F6B7-A091-4064-9E8D-F391DB51284C}"/>
              </a:ext>
            </a:extLst>
          </p:cNvPr>
          <p:cNvSpPr>
            <a:spLocks xmlns:a="http://schemas.openxmlformats.org/drawingml/2006/main" noGrp="1"/>
          </p:cNvSpPr>
          <p:nvPr/>
        </p:nvSpPr>
        <p:spPr>
          <a:xfrm xmlns:a="http://schemas.openxmlformats.org/drawingml/2006/main">
            <a:off x="1428750" y="5600700"/>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stStyle>
          <a:p xmlns:a="http://schemas.openxmlformats.org/drawingml/2006/main">
            <a:pPr algn="ctr">
              <a:defRPr sz="1350" b="1">
                <a:solidFill>
                  <a:srgbClr val="203247"/>
                </a:solidFill>
              </a:defRPr>
            </a:pPr>
            <a:r>
              <a:rPr sz="1350" b="1">
                <a:solidFill>
                  <a:srgbClr val="203247"/>
                </a:solidFill>
              </a:rPr>
              <a:t>Human review stays explicit: the app supports room decisions; it does not diagnose a person or guarantee safety.</a:t>
            </a:r>
          </a:p>
        </p:txBody>
      </p:sp>
    </p:spTree>
    <p:extLst>
      <p:ext uri="{BB962C8B-B14F-4D97-AF65-F5344CB8AC3E}">
        <p14:creationId xmlns:p14="http://schemas.microsoft.com/office/powerpoint/2010/main" val="507696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2026-10-16T14:54:30.4310000Z</dcterms:created>
  <dcterms:modified xsi:type="dcterms:W3CDTF">2026-10-16T14:54:30.4310000Z</dcterms:modified>
</coreProperties>
</file>