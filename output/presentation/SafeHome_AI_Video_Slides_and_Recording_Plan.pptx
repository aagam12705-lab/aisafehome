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a121abae87143fe" /><Relationship Type="http://schemas.openxmlformats.org/officeDocument/2006/relationships/extended-properties" Target="/docProps/app.xml" Id="R71a4e9f3f1a3471e" /><Relationship Type="http://schemas.openxmlformats.org/officeDocument/2006/relationships/officeDocument" Target="/ppt/presentation.xml" Id="R33c1c2e1c58f4dab" /></Relationships>
</file>

<file path=ppt/presentation.xml><?xml version="1.0" encoding="utf-8"?>
<p:presentation xmlns:p="http://schemas.openxmlformats.org/presentationml/2006/main">
  <p:sldMasterIdLst>
    <p:sldMasterId xmlns:r="http://schemas.openxmlformats.org/officeDocument/2006/relationships" id="2147483648" r:id="R8e9ca8c9012644dc"/>
  </p:sldMasterIdLst>
  <p:notesMasterIdLst>
    <p:notesMasterId xmlns:r="http://schemas.openxmlformats.org/officeDocument/2006/relationships" r:id="R503524f676044d01"/>
  </p:notesMasterIdLst>
  <p:sldIdLst>
    <p:sldId xmlns:r="http://schemas.openxmlformats.org/officeDocument/2006/relationships" id="256" r:id="R82fcfcd37c0f4899"/>
    <p:sldId xmlns:r="http://schemas.openxmlformats.org/officeDocument/2006/relationships" id="257" r:id="Rd9b9a75ea12a4b8f"/>
    <p:sldId xmlns:r="http://schemas.openxmlformats.org/officeDocument/2006/relationships" id="258" r:id="Ra7d5ca0e93b04b76"/>
    <p:sldId xmlns:r="http://schemas.openxmlformats.org/officeDocument/2006/relationships" id="259" r:id="Rccae3232dece4ed4"/>
    <p:sldId xmlns:r="http://schemas.openxmlformats.org/officeDocument/2006/relationships" id="260" r:id="R4db9dbbe5bd446a1"/>
    <p:sldId xmlns:r="http://schemas.openxmlformats.org/officeDocument/2006/relationships" id="261" r:id="Rddec66ace57345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1c1101970747db" /><Relationship Type="http://schemas.openxmlformats.org/officeDocument/2006/relationships/slideMaster" Target="/ppt/slideMasters/slideMaster1.xml" Id="R8e9ca8c9012644dc" /><Relationship Type="http://schemas.openxmlformats.org/officeDocument/2006/relationships/notesMaster" Target="/ppt/notesMasters/notesMaster1.xml" Id="R503524f676044d01" /><Relationship Type="http://schemas.openxmlformats.org/officeDocument/2006/relationships/presProps" Target="/ppt/presProps.xml" Id="Rc2adbbd5ad884220" /><Relationship Type="http://schemas.openxmlformats.org/officeDocument/2006/relationships/tableStyles" Target="/ppt/tableStyles.xml" Id="R6b193b45490f41f3" /><Relationship Type="http://schemas.openxmlformats.org/officeDocument/2006/relationships/slide" Target="/ppt/slides/slide1.xml" Id="R82fcfcd37c0f4899" /><Relationship Type="http://schemas.openxmlformats.org/officeDocument/2006/relationships/slide" Target="/ppt/slides/slide2.xml" Id="Rd9b9a75ea12a4b8f" /><Relationship Type="http://schemas.openxmlformats.org/officeDocument/2006/relationships/slide" Target="/ppt/slides/slide3.xml" Id="Ra7d5ca0e93b04b76" /><Relationship Type="http://schemas.openxmlformats.org/officeDocument/2006/relationships/slide" Target="/ppt/slides/slide4.xml" Id="Rccae3232dece4ed4" /><Relationship Type="http://schemas.openxmlformats.org/officeDocument/2006/relationships/slide" Target="/ppt/slides/slide5.xml" Id="R4db9dbbe5bd446a1" /><Relationship Type="http://schemas.openxmlformats.org/officeDocument/2006/relationships/slide" Target="/ppt/slides/slide6.xml" Id="Rddec66ace57345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c17c147bd445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8cc0fedc2f485d" /><Relationship Type="http://schemas.openxmlformats.org/officeDocument/2006/relationships/notesMaster" Target="/ppt/notesMasters/notesMaster1.xml" Id="Rb8edc5b2d6da48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c3c7dda48848bf" /><Relationship Type="http://schemas.openxmlformats.org/officeDocument/2006/relationships/notesMaster" Target="/ppt/notesMasters/notesMaster1.xml" Id="Reb94c047c98345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772ed6c4f84b64" /><Relationship Type="http://schemas.openxmlformats.org/officeDocument/2006/relationships/notesMaster" Target="/ppt/notesMasters/notesMaster1.xml" Id="Rf73ee384b0fe47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eab7d55f52f43ff" /><Relationship Type="http://schemas.openxmlformats.org/officeDocument/2006/relationships/notesMaster" Target="/ppt/notesMasters/notesMaster1.xml" Id="R6fe8da83a1c64b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2b3e204a344210" /><Relationship Type="http://schemas.openxmlformats.org/officeDocument/2006/relationships/notesMaster" Target="/ppt/notesMasters/notesMaster1.xml" Id="Rd779316118f349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2cce068b81404e" /><Relationship Type="http://schemas.openxmlformats.org/officeDocument/2006/relationships/notesMaster" Target="/ppt/notesMasters/notesMaster1.xml" Id="R58d02e39c51741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0:00-0:12 (12 seconds)</a:t>
            </a:r>
          </a:p>
          <a:p xmlns:a="http://schemas.openxmlformats.org/drawingml/2006/main">
            <a:r>
              <a:t/>
            </a:r>
          </a:p>
          <a:p xmlns:a="http://schemas.openxmlformats.org/drawingml/2006/main">
            <a:r>
              <a:t>NARRATION</a:t>
            </a:r>
          </a:p>
          <a:p xmlns:a="http://schemas.openxmlformats.org/drawingml/2006/main">
            <a:r>
              <a:t>Imagine an older adult walking through a familiar bedroom at night. A cord or shirt on the floor is easy to overlook. SafeHome AI turns one room photo into a simple plan for what to fix first.</a:t>
            </a:r>
          </a:p>
          <a:p xmlns:a="http://schemas.openxmlformats.org/drawingml/2006/main">
            <a:r>
              <a:t/>
            </a:r>
          </a:p>
          <a:p xmlns:a="http://schemas.openxmlformats.org/drawingml/2006/main">
            <a:r>
              <a:t>NEXT APP CLIP</a:t>
            </a:r>
          </a:p>
          <a:p xmlns:a="http://schemas.openxmlformats.org/drawingml/2006/main">
            <a:r>
              <a:t>0:12-0:32 - Clip A: Use two prepared shots. First show room selection. Cut to the uploaded photo and begin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0:32-0:44 (12 seconds)</a:t>
            </a:r>
          </a:p>
          <a:p xmlns:a="http://schemas.openxmlformats.org/drawingml/2006/main">
            <a:r>
              <a:t/>
            </a:r>
          </a:p>
          <a:p xmlns:a="http://schemas.openxmlformats.org/drawingml/2006/main">
            <a:r>
              <a:t>NARRATION</a:t>
            </a:r>
          </a:p>
          <a:p xmlns:a="http://schemas.openxmlformats.org/drawingml/2006/main">
            <a:r>
              <a:t>Quick Check gets someone to an answer quickly. Signing in keeps the same check, then adds saved rooms, progress, comparisons, and sharing.</a:t>
            </a:r>
          </a:p>
          <a:p xmlns:a="http://schemas.openxmlformats.org/drawingml/2006/main">
            <a:r>
              <a:t/>
            </a:r>
          </a:p>
          <a:p xmlns:a="http://schemas.openxmlformats.org/drawingml/2006/main">
            <a:r>
              <a:t>NEXT APP CLIP</a:t>
            </a:r>
          </a:p>
          <a:p xmlns:a="http://schemas.openxmlformats.org/drawingml/2006/main">
            <a:r>
              <a:t>0:44-1:14 - Clip B: Use three prepared shots: marked evidence, one follow-up question, and the completed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1:14-1:30 (16 seconds)</a:t>
            </a:r>
          </a:p>
          <a:p xmlns:a="http://schemas.openxmlformats.org/drawingml/2006/main">
            <a:r>
              <a:t/>
            </a:r>
          </a:p>
          <a:p xmlns:a="http://schemas.openxmlformats.org/drawingml/2006/main">
            <a:r>
              <a:t>NARRATION</a:t>
            </a:r>
          </a:p>
          <a:p xmlns:a="http://schemas.openxmlformats.org/drawingml/2006/main">
            <a:r>
              <a:t>The photo passes an image-quality gate before Vision AI reviews visible evidence. Python validates the result and controls the score. Supabase stores structured history, Brevo sends text summaries, and the room photo stays in the active session.</a:t>
            </a:r>
          </a:p>
          <a:p xmlns:a="http://schemas.openxmlformats.org/drawingml/2006/main">
            <a:r>
              <a:t/>
            </a:r>
          </a:p>
          <a:p xmlns:a="http://schemas.openxmlformats.org/drawingml/2006/main">
            <a:r>
              <a:t>NEXT APP CLIP</a:t>
            </a:r>
          </a:p>
          <a:p xmlns:a="http://schemas.openxmlformats.org/drawingml/2006/main">
            <a:r>
              <a:t>1:30-1:50 - Clip C: Use two prepared shots: the safety plan and the completed before-and-after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1:50-2:05 (15 seconds)</a:t>
            </a:r>
          </a:p>
          <a:p xmlns:a="http://schemas.openxmlformats.org/drawingml/2006/main">
            <a:r>
              <a:t/>
            </a:r>
          </a:p>
          <a:p xmlns:a="http://schemas.openxmlformats.org/drawingml/2006/main">
            <a:r>
              <a:t>NARRATION</a:t>
            </a:r>
          </a:p>
          <a:p xmlns:a="http://schemas.openxmlformats.org/drawingml/2006/main">
            <a:r>
              <a:t>Each visible hazard receives one to fifteen points. Follow-up answers add only what the photo cannot establish. Tested fallback values limit variation, and the final room score never exceeds one hundred.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2:05-2:20 (15 seconds)</a:t>
            </a:r>
          </a:p>
          <a:p xmlns:a="http://schemas.openxmlformats.org/drawingml/2006/main">
            <a:r>
              <a:t/>
            </a:r>
          </a:p>
          <a:p xmlns:a="http://schemas.openxmlformats.org/drawingml/2006/main">
            <a:r>
              <a:t>NARRATION</a:t>
            </a:r>
          </a:p>
          <a:p xmlns:a="http://schemas.openxmlformats.org/drawingml/2006/main">
            <a:r>
              <a:t>I tested ten staged room photos with thirty-five reference hazards. SafeHome AI reported thirty-four correctly and missed one. This is a focused test set, not a guarantee, so human review remains part of the app.</a:t>
            </a:r>
          </a:p>
          <a:p xmlns:a="http://schemas.openxmlformats.org/drawingml/2006/main">
            <a:r>
              <a:t/>
            </a:r>
          </a:p>
          <a:p xmlns:a="http://schemas.openxmlformats.org/drawingml/2006/main">
            <a:r>
              <a:t>NEXT APP CLIP</a:t>
            </a:r>
          </a:p>
          <a:p xmlns:a="http://schemas.openxmlformats.org/drawingml/2006/main">
            <a:r>
              <a:t>2:20-2:45 - Clip D: Use three prepared shots: dashboard and trend, add a recipient field, and Accessibility.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TIMING</a:t>
            </a:r>
          </a:p>
          <a:p xmlns:a="http://schemas.openxmlformats.org/drawingml/2006/main">
            <a:r>
              <a:t>2:45-3:00 (15 seconds)</a:t>
            </a:r>
          </a:p>
          <a:p xmlns:a="http://schemas.openxmlformats.org/drawingml/2006/main">
            <a:r>
              <a:t/>
            </a:r>
          </a:p>
          <a:p xmlns:a="http://schemas.openxmlformats.org/drawingml/2006/main">
            <a:r>
              <a:t>NARRATION</a:t>
            </a:r>
          </a:p>
          <a:p xmlns:a="http://schemas.openxmlformats.org/drawingml/2006/main">
            <a:r>
              <a:t>The story ends where it began: in the same room, with fewer unknowns and a clear next step. SafeHome AI combines controlled scoring, honest uncertainty, practical action, and accessible design while keeping human judgment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c5bd71daa54c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44b79eb2ef0465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733cde355444b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ace5506aa174be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9e12632159454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468187f94114e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0D85D1-BE8D-40B0-B74D-0D021A950A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159599A-4A3D-46E0-91A6-FF31A283938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7F76045-6284-4D3C-AF57-31FD8719A44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FA1B96-5560-4F8E-B3C3-91414219BB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3695E1B-041F-4915-A4F4-5AF6204CCD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4876C32-E8FB-439B-B850-FEC827CAE8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5B2800D-B621-44CC-90B4-F0B70934EC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E86453-BEC5-4574-8E54-BC8008B690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D03C99-BAC9-463F-92D0-B170DD77B5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AB202B-8F43-4EA9-A8B8-5CE5634C0A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c2c4a2b7d64d3d" /><Relationship Type="http://schemas.openxmlformats.org/officeDocument/2006/relationships/slideLayout" Target="/ppt/slideLayouts/slideLayout1.xml" Id="R60006d894bea4bf3" /><Relationship Type="http://schemas.openxmlformats.org/officeDocument/2006/relationships/slideLayout" Target="/ppt/slideLayouts/slideLayout2.xml" Id="Rcfd4ee351b6c423e" /><Relationship Type="http://schemas.openxmlformats.org/officeDocument/2006/relationships/slideLayout" Target="/ppt/slideLayouts/slideLayout3.xml" Id="R0daf1d35d8b94356" /><Relationship Type="http://schemas.openxmlformats.org/officeDocument/2006/relationships/slideLayout" Target="/ppt/slideLayouts/slideLayout4.xml" Id="R354ee04e6a174d53" /><Relationship Type="http://schemas.openxmlformats.org/officeDocument/2006/relationships/slideLayout" Target="/ppt/slideLayouts/slideLayout5.xml" Id="Rd95dcc21e640433f" /><Relationship Type="http://schemas.openxmlformats.org/officeDocument/2006/relationships/slideLayout" Target="/ppt/slideLayouts/slideLayout6.xml" Id="Rc3b3918468b14a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006d894bea4bf3"/>
    <p:sldLayoutId xmlns:r="http://schemas.openxmlformats.org/officeDocument/2006/relationships" id="2147483650" r:id="Rcfd4ee351b6c423e"/>
    <p:sldLayoutId xmlns:r="http://schemas.openxmlformats.org/officeDocument/2006/relationships" id="2147483651" r:id="R0daf1d35d8b94356"/>
    <p:sldLayoutId xmlns:r="http://schemas.openxmlformats.org/officeDocument/2006/relationships" id="2147483652" r:id="R354ee04e6a174d53"/>
    <p:sldLayoutId xmlns:r="http://schemas.openxmlformats.org/officeDocument/2006/relationships" id="2147483653" r:id="Rd95dcc21e640433f"/>
    <p:sldLayoutId xmlns:r="http://schemas.openxmlformats.org/officeDocument/2006/relationships" id="2147483654" r:id="Rc3b3918468b14a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02cabf1435b429a" /><Relationship Type="http://schemas.openxmlformats.org/officeDocument/2006/relationships/notesSlide" Target="/ppt/notesSlides/notesSlide1.xml" Id="Refbd476598f948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1e214df87d946b5" /><Relationship Type="http://schemas.openxmlformats.org/officeDocument/2006/relationships/notesSlide" Target="/ppt/notesSlides/notesSlide2.xml" Id="R831bbafbef4849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4e683462e34376" /><Relationship Type="http://schemas.openxmlformats.org/officeDocument/2006/relationships/notesSlide" Target="/ppt/notesSlides/notesSlide3.xml" Id="Rd079e4bbeabd4b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981bdea4a340e7" /><Relationship Type="http://schemas.openxmlformats.org/officeDocument/2006/relationships/notesSlide" Target="/ppt/notesSlides/notesSlide4.xml" Id="Rc0c2fcd90f814a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d44283d017e494c" /><Relationship Type="http://schemas.openxmlformats.org/officeDocument/2006/relationships/notesSlide" Target="/ppt/notesSlides/notesSlide5.xml" Id="Ra46d31f1878b44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3475cc2b7b4785" /><Relationship Type="http://schemas.openxmlformats.org/officeDocument/2006/relationships/notesSlide" Target="/ppt/notesSlides/notesSlide6.xml" Id="R9578714887f24edb" /></Relationships>
</file>

<file path=ppt/slides/slide1.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17F1E0-DB9C-4B7C-AF6C-589E30EFE547}"/>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75C62D-BED6-42F3-B67F-383167A617CE}"/>
              </a:ext>
            </a:extLst>
          </p:cNvPr>
          <p:cNvSpPr>
            <a:spLocks xmlns:a="http://schemas.openxmlformats.org/drawingml/2006/main" noGrp="1"/>
          </p:cNvSpPr>
          <p:nvPr/>
        </p:nvSpPr>
        <p:spPr>
          <a:xfrm xmlns:a="http://schemas.openxmlformats.org/drawingml/2006/main">
            <a:off x="628650" y="1143000"/>
            <a:ext cx="6762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3600" b="1">
                <a:solidFill>
                  <a:srgbClr val="203247"/>
                </a:solidFill>
              </a:defRPr>
            </a:defPPr>
          </a:lstStyle>
          <a:p xmlns:a="http://schemas.openxmlformats.org/drawingml/2006/main">
            <a:pPr algn="l">
              <a:defRPr sz="3600" b="1">
                <a:solidFill>
                  <a:srgbClr val="203247"/>
                </a:solidFill>
              </a:defRPr>
            </a:pPr>
            <a:r>
              <a:rPr sz="3600" b="1">
                <a:solidFill>
                  <a:srgbClr val="203247"/>
                </a:solidFill>
              </a:rPr>
              <a:t>One ordinary room.</a:t>
            </a:r>
          </a:p>
          <a:p xmlns:a="http://schemas.openxmlformats.org/drawingml/2006/main">
            <a:pPr algn="l">
              <a:defRPr sz="3600" b="1">
                <a:solidFill>
                  <a:srgbClr val="203247"/>
                </a:solidFill>
              </a:defRPr>
            </a:pPr>
            <a:r>
              <a:rPr sz="3600" b="1">
                <a:solidFill>
                  <a:srgbClr val="203247"/>
                </a:solidFill>
              </a:rPr>
              <a:t>One overlooked hazard.</a:t>
            </a:r>
          </a:p>
        </p:txBody>
      </p:sp>
      <p:sp>
        <p:nvSpPr>
          <p:cNvPr id="3" name="">
            <a:extLst xmlns:a="http://schemas.openxmlformats.org/drawingml/2006/main">
              <a:ext uri="{FF2B5EF4-FFF2-40B4-BE49-F238E27FC236}">
                <a16:creationId xmlns:a16="http://schemas.microsoft.com/office/drawing/2014/main" id="{09194787-A159-497B-BC74-DAF9422982CB}"/>
              </a:ext>
            </a:extLst>
          </p:cNvPr>
          <p:cNvSpPr>
            <a:spLocks xmlns:a="http://schemas.openxmlformats.org/drawingml/2006/main" noGrp="1"/>
          </p:cNvSpPr>
          <p:nvPr/>
        </p:nvSpPr>
        <p:spPr>
          <a:xfrm xmlns:a="http://schemas.openxmlformats.org/drawingml/2006/main">
            <a:off x="628650" y="2838450"/>
            <a:ext cx="6572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59677A"/>
                </a:solidFill>
              </a:defRPr>
            </a:defPPr>
          </a:lstStyle>
          <a:p xmlns:a="http://schemas.openxmlformats.org/drawingml/2006/main">
            <a:pPr algn="l">
              <a:defRPr sz="1650" b="0">
                <a:solidFill>
                  <a:srgbClr val="59677A"/>
                </a:solidFill>
              </a:defRPr>
            </a:pPr>
            <a:r>
              <a:rPr sz="1650" b="0">
                <a:solidFill>
                  <a:srgbClr val="59677A"/>
                </a:solidFill>
              </a:rPr>
              <a:t>SafeHome AI helps an older adult or family member notice the risk and decide what to fix first.</a:t>
            </a:r>
          </a:p>
        </p:txBody>
      </p:sp>
      <p:sp>
        <p:nvSpPr>
          <p:cNvPr id="4" name="">
            <a:extLst xmlns:a="http://schemas.openxmlformats.org/drawingml/2006/main">
              <a:ext uri="{FF2B5EF4-FFF2-40B4-BE49-F238E27FC236}">
                <a16:creationId xmlns:a16="http://schemas.microsoft.com/office/drawing/2014/main" id="{96F26F4D-F0AA-4FCC-B5FB-10B76C0DAED7}"/>
              </a:ext>
            </a:extLst>
          </p:cNvPr>
          <p:cNvSpPr>
            <a:spLocks xmlns:a="http://schemas.openxmlformats.org/drawingml/2006/main" noGrp="1"/>
          </p:cNvSpPr>
          <p:nvPr/>
        </p:nvSpPr>
        <p:spPr>
          <a:xfrm xmlns:a="http://schemas.openxmlformats.org/drawingml/2006/main">
            <a:off x="628650" y="3771900"/>
            <a:ext cx="4762500" cy="6667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093248-D209-4B84-B224-74E8DACCBD57}"/>
              </a:ext>
            </a:extLst>
          </p:cNvPr>
          <p:cNvSpPr>
            <a:spLocks xmlns:a="http://schemas.openxmlformats.org/drawingml/2006/main" noGrp="1"/>
          </p:cNvSpPr>
          <p:nvPr/>
        </p:nvSpPr>
        <p:spPr>
          <a:xfrm xmlns:a="http://schemas.openxmlformats.org/drawingml/2006/main">
            <a:off x="8096250" y="1200150"/>
            <a:ext cx="2857500" cy="3714750"/>
          </a:xfrm>
          <a:prstGeom xmlns:a="http://schemas.openxmlformats.org/drawingml/2006/main" prst="roundRect">
            <a:avLst>
              <a:gd name="adj" fmla="val 2667"/>
            </a:avLst>
          </a:prstGeom>
          <a:solidFill xmlns:a="http://schemas.openxmlformats.org/drawingml/2006/main">
            <a:srgbClr val="E3EEF1"/>
          </a:solidFill>
          <a:ln xmlns:a="http://schemas.openxmlformats.org/drawingml/2006/main" w="9525">
            <a:solidFill>
              <a:srgbClr val="D8D3CA"/>
            </a:solidFill>
            <a:prstDash val="solid"/>
          </a:ln>
        </p:spPr>
      </p:sp>
      <p:sp>
        <p:nvSpPr>
          <p:cNvPr id="6" name="">
            <a:extLst xmlns:a="http://schemas.openxmlformats.org/drawingml/2006/main">
              <a:ext uri="{FF2B5EF4-FFF2-40B4-BE49-F238E27FC236}">
                <a16:creationId xmlns:a16="http://schemas.microsoft.com/office/drawing/2014/main" id="{ED579203-678A-48CD-9F59-DCDAA59CEB13}"/>
              </a:ext>
            </a:extLst>
          </p:cNvPr>
          <p:cNvSpPr>
            <a:spLocks xmlns:a="http://schemas.openxmlformats.org/drawingml/2006/main" noGrp="1"/>
          </p:cNvSpPr>
          <p:nvPr/>
        </p:nvSpPr>
        <p:spPr>
          <a:xfrm xmlns:a="http://schemas.openxmlformats.org/drawingml/2006/main">
            <a:off x="8096250" y="18097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START HERE</a:t>
            </a:r>
          </a:p>
        </p:txBody>
      </p:sp>
      <p:sp>
        <p:nvSpPr>
          <p:cNvPr id="7" name="">
            <a:extLst xmlns:a="http://schemas.openxmlformats.org/drawingml/2006/main">
              <a:ext uri="{FF2B5EF4-FFF2-40B4-BE49-F238E27FC236}">
                <a16:creationId xmlns:a16="http://schemas.microsoft.com/office/drawing/2014/main" id="{055D300B-3C65-4BC3-9D83-7D1CAA675DE6}"/>
              </a:ext>
            </a:extLst>
          </p:cNvPr>
          <p:cNvSpPr>
            <a:spLocks xmlns:a="http://schemas.openxmlformats.org/drawingml/2006/main" noGrp="1"/>
          </p:cNvSpPr>
          <p:nvPr/>
        </p:nvSpPr>
        <p:spPr>
          <a:xfrm xmlns:a="http://schemas.openxmlformats.org/drawingml/2006/main">
            <a:off x="8477250" y="24955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025" b="1">
                <a:solidFill>
                  <a:srgbClr val="203247"/>
                </a:solidFill>
              </a:defRPr>
            </a:defPPr>
          </a:lstStyle>
          <a:p xmlns:a="http://schemas.openxmlformats.org/drawingml/2006/main">
            <a:pPr algn="ctr">
              <a:defRPr sz="2025" b="1">
                <a:solidFill>
                  <a:srgbClr val="203247"/>
                </a:solidFill>
              </a:defRPr>
            </a:pPr>
            <a:r>
              <a:rPr sz="2025" b="1">
                <a:solidFill>
                  <a:srgbClr val="203247"/>
                </a:solidFill>
              </a:rPr>
              <a:t>Take or upload</a:t>
            </a:r>
          </a:p>
          <a:p xmlns:a="http://schemas.openxmlformats.org/drawingml/2006/main">
            <a:pPr algn="ctr">
              <a:defRPr sz="2025" b="1">
                <a:solidFill>
                  <a:srgbClr val="203247"/>
                </a:solidFill>
              </a:defRPr>
            </a:pPr>
            <a:r>
              <a:rPr sz="2025" b="1">
                <a:solidFill>
                  <a:srgbClr val="203247"/>
                </a:solidFill>
              </a:rPr>
              <a:t>a room photo</a:t>
            </a:r>
          </a:p>
        </p:txBody>
      </p:sp>
      <p:sp>
        <p:nvSpPr>
          <p:cNvPr id="8" name="">
            <a:extLst xmlns:a="http://schemas.openxmlformats.org/drawingml/2006/main">
              <a:ext uri="{FF2B5EF4-FFF2-40B4-BE49-F238E27FC236}">
                <a16:creationId xmlns:a16="http://schemas.microsoft.com/office/drawing/2014/main" id="{FC2E9E2E-DCE9-4DCC-8069-FEDB66C1AA32}"/>
              </a:ext>
            </a:extLst>
          </p:cNvPr>
          <p:cNvSpPr>
            <a:spLocks xmlns:a="http://schemas.openxmlformats.org/drawingml/2006/main" noGrp="1"/>
          </p:cNvSpPr>
          <p:nvPr/>
        </p:nvSpPr>
        <p:spPr>
          <a:xfrm xmlns:a="http://schemas.openxmlformats.org/drawingml/2006/main">
            <a:off x="8858250" y="3638550"/>
            <a:ext cx="1333500" cy="47625"/>
          </a:xfrm>
          <a:prstGeom xmlns:a="http://schemas.openxmlformats.org/drawingml/2006/main" prst="rect">
            <a:avLst/>
          </a:prstGeom>
          <a:solidFill xmlns:a="http://schemas.openxmlformats.org/drawingml/2006/main">
            <a:srgbClr val="2F7D6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5752D4-A715-4DAF-B8AE-67A20440C728}"/>
              </a:ext>
            </a:extLst>
          </p:cNvPr>
          <p:cNvSpPr>
            <a:spLocks xmlns:a="http://schemas.openxmlformats.org/drawingml/2006/main" noGrp="1"/>
          </p:cNvSpPr>
          <p:nvPr/>
        </p:nvSpPr>
        <p:spPr>
          <a:xfrm xmlns:a="http://schemas.openxmlformats.org/drawingml/2006/main">
            <a:off x="8477250" y="392430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425" b="0">
                <a:solidFill>
                  <a:srgbClr val="59677A"/>
                </a:solidFill>
              </a:defRPr>
            </a:defPPr>
          </a:lstStyle>
          <a:p xmlns:a="http://schemas.openxmlformats.org/drawingml/2006/main">
            <a:pPr algn="ctr">
              <a:defRPr sz="1425" b="0">
                <a:solidFill>
                  <a:srgbClr val="59677A"/>
                </a:solidFill>
              </a:defRPr>
            </a:pPr>
            <a:r>
              <a:rPr sz="1425" b="0">
                <a:solidFill>
                  <a:srgbClr val="59677A"/>
                </a:solidFill>
              </a:rPr>
              <a:t>The app explains what it notices</a:t>
            </a:r>
          </a:p>
        </p:txBody>
      </p:sp>
      <p:sp>
        <p:nvSpPr>
          <p:cNvPr id="10" name="">
            <a:extLst xmlns:a="http://schemas.openxmlformats.org/drawingml/2006/main">
              <a:ext uri="{FF2B5EF4-FFF2-40B4-BE49-F238E27FC236}">
                <a16:creationId xmlns:a16="http://schemas.microsoft.com/office/drawing/2014/main" id="{671919F0-BE57-4F67-8AC9-51359502794C}"/>
              </a:ext>
            </a:extLst>
          </p:cNvPr>
          <p:cNvSpPr>
            <a:spLocks xmlns:a="http://schemas.openxmlformats.org/drawingml/2006/main" noGrp="1"/>
          </p:cNvSpPr>
          <p:nvPr/>
        </p:nvSpPr>
        <p:spPr>
          <a:xfrm xmlns:a="http://schemas.openxmlformats.org/drawingml/2006/main">
            <a:off x="11334750" y="6429375"/>
            <a:ext cx="266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1</a:t>
            </a:r>
          </a:p>
        </p:txBody>
      </p:sp>
    </p:spTree>
    <p:extLst>
      <p:ext uri="{BB962C8B-B14F-4D97-AF65-F5344CB8AC3E}">
        <p14:creationId xmlns:p14="http://schemas.microsoft.com/office/powerpoint/2010/main" val="522563765"/>
      </p:ext>
    </p:extLst>
  </p:cSld>
</p:sld>
</file>

<file path=ppt/slides/slide2.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9B0438C1-A89C-4C9C-8FCD-047589BDE44E}"/>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8E2604-2592-4A00-AFFF-1A5D6F8EBBEF}"/>
              </a:ext>
            </a:extLst>
          </p:cNvPr>
          <p:cNvSpPr>
            <a:spLocks xmlns:a="http://schemas.openxmlformats.org/drawingml/2006/main" noGrp="1"/>
          </p:cNvSpPr>
          <p:nvPr/>
        </p:nvSpPr>
        <p:spPr>
          <a:xfrm xmlns:a="http://schemas.openxmlformats.org/drawingml/2006/main">
            <a:off x="628650" y="438150"/>
            <a:ext cx="1093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700" b="1">
                <a:solidFill>
                  <a:srgbClr val="203247"/>
                </a:solidFill>
              </a:defRPr>
            </a:defPPr>
          </a:lstStyle>
          <a:p xmlns:a="http://schemas.openxmlformats.org/drawingml/2006/main">
            <a:pPr algn="l">
              <a:defRPr sz="2700" b="1">
                <a:solidFill>
                  <a:srgbClr val="203247"/>
                </a:solidFill>
              </a:defRPr>
            </a:pPr>
            <a:r>
              <a:rPr sz="2700" b="1">
                <a:solidFill>
                  <a:srgbClr val="203247"/>
                </a:solidFill>
              </a:rPr>
              <a:t>Choose the path that fits</a:t>
            </a:r>
          </a:p>
        </p:txBody>
      </p:sp>
      <p:sp>
        <p:nvSpPr>
          <p:cNvPr id="3" name="">
            <a:extLst xmlns:a="http://schemas.openxmlformats.org/drawingml/2006/main">
              <a:ext uri="{FF2B5EF4-FFF2-40B4-BE49-F238E27FC236}">
                <a16:creationId xmlns:a16="http://schemas.microsoft.com/office/drawing/2014/main" id="{828CE9FE-63E1-424C-856C-CAC0DB515547}"/>
              </a:ext>
            </a:extLst>
          </p:cNvPr>
          <p:cNvSpPr>
            <a:spLocks xmlns:a="http://schemas.openxmlformats.org/drawingml/2006/main" noGrp="1"/>
          </p:cNvSpPr>
          <p:nvPr/>
        </p:nvSpPr>
        <p:spPr>
          <a:xfrm xmlns:a="http://schemas.openxmlformats.org/drawingml/2006/main">
            <a:off x="628650" y="9715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0">
                <a:solidFill>
                  <a:srgbClr val="59677A"/>
                </a:solidFill>
              </a:defRPr>
            </a:defPPr>
          </a:lstStyle>
          <a:p xmlns:a="http://schemas.openxmlformats.org/drawingml/2006/main">
            <a:pPr algn="l">
              <a:defRPr sz="1425" b="0">
                <a:solidFill>
                  <a:srgbClr val="59677A"/>
                </a:solidFill>
              </a:defRPr>
            </a:pPr>
            <a:r>
              <a:rPr sz="1425" b="0">
                <a:solidFill>
                  <a:srgbClr val="59677A"/>
                </a:solidFill>
              </a:rPr>
              <a:t>The safety check is the same. Saving a room is optional.</a:t>
            </a:r>
          </a:p>
        </p:txBody>
      </p:sp>
      <p:sp>
        <p:nvSpPr>
          <p:cNvPr id="4" name="">
            <a:extLst xmlns:a="http://schemas.openxmlformats.org/drawingml/2006/main">
              <a:ext uri="{FF2B5EF4-FFF2-40B4-BE49-F238E27FC236}">
                <a16:creationId xmlns:a16="http://schemas.microsoft.com/office/drawing/2014/main" id="{725DAD63-8678-4336-857E-AC3DCF6254A7}"/>
              </a:ext>
            </a:extLst>
          </p:cNvPr>
          <p:cNvSpPr>
            <a:spLocks xmlns:a="http://schemas.openxmlformats.org/drawingml/2006/main" noGrp="1"/>
          </p:cNvSpPr>
          <p:nvPr/>
        </p:nvSpPr>
        <p:spPr>
          <a:xfrm xmlns:a="http://schemas.openxmlformats.org/drawingml/2006/main">
            <a:off x="10858500" y="64293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2</a:t>
            </a:r>
          </a:p>
        </p:txBody>
      </p:sp>
      <p:sp>
        <p:nvSpPr>
          <p:cNvPr id="5" name="">
            <a:extLst xmlns:a="http://schemas.openxmlformats.org/drawingml/2006/main">
              <a:ext uri="{FF2B5EF4-FFF2-40B4-BE49-F238E27FC236}">
                <a16:creationId xmlns:a16="http://schemas.microsoft.com/office/drawing/2014/main" id="{ACB26F91-D836-4BDE-81D6-E2EF1F6B86C4}"/>
              </a:ext>
            </a:extLst>
          </p:cNvPr>
          <p:cNvSpPr>
            <a:spLocks xmlns:a="http://schemas.openxmlformats.org/drawingml/2006/main" noGrp="1"/>
          </p:cNvSpPr>
          <p:nvPr/>
        </p:nvSpPr>
        <p:spPr>
          <a:xfrm xmlns:a="http://schemas.openxmlformats.org/drawingml/2006/main">
            <a:off x="6096000" y="1952625"/>
            <a:ext cx="19050" cy="3429000"/>
          </a:xfrm>
          <a:prstGeom xmlns:a="http://schemas.openxmlformats.org/drawingml/2006/main" prst="rect">
            <a:avLst/>
          </a:prstGeom>
          <a:solidFill xmlns:a="http://schemas.openxmlformats.org/drawingml/2006/main">
            <a:srgbClr val="D8D3C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72D3B7-66D4-4EF8-A1F9-C67600FF1E38}"/>
              </a:ext>
            </a:extLst>
          </p:cNvPr>
          <p:cNvSpPr>
            <a:spLocks xmlns:a="http://schemas.openxmlformats.org/drawingml/2006/main" noGrp="1"/>
          </p:cNvSpPr>
          <p:nvPr/>
        </p:nvSpPr>
        <p:spPr>
          <a:xfrm xmlns:a="http://schemas.openxmlformats.org/drawingml/2006/main">
            <a:off x="857250" y="19621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1E5D78"/>
                </a:solidFill>
              </a:defRPr>
            </a:defPPr>
          </a:lstStyle>
          <a:p xmlns:a="http://schemas.openxmlformats.org/drawingml/2006/main">
            <a:pPr algn="l">
              <a:defRPr sz="1200" b="1">
                <a:solidFill>
                  <a:srgbClr val="1E5D78"/>
                </a:solidFill>
              </a:defRPr>
            </a:pPr>
            <a:r>
              <a:rPr sz="1200" b="1">
                <a:solidFill>
                  <a:srgbClr val="1E5D78"/>
                </a:solidFill>
              </a:rPr>
              <a:t>FASTEST</a:t>
            </a:r>
          </a:p>
        </p:txBody>
      </p:sp>
      <p:sp>
        <p:nvSpPr>
          <p:cNvPr id="7" name="">
            <a:extLst xmlns:a="http://schemas.openxmlformats.org/drawingml/2006/main">
              <a:ext uri="{FF2B5EF4-FFF2-40B4-BE49-F238E27FC236}">
                <a16:creationId xmlns:a16="http://schemas.microsoft.com/office/drawing/2014/main" id="{F6A03BB4-055C-4C46-9909-52A386C421B8}"/>
              </a:ext>
            </a:extLst>
          </p:cNvPr>
          <p:cNvSpPr>
            <a:spLocks xmlns:a="http://schemas.openxmlformats.org/drawingml/2006/main" noGrp="1"/>
          </p:cNvSpPr>
          <p:nvPr/>
        </p:nvSpPr>
        <p:spPr>
          <a:xfrm xmlns:a="http://schemas.openxmlformats.org/drawingml/2006/main">
            <a:off x="857250" y="2381250"/>
            <a:ext cx="4524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175" b="1">
                <a:solidFill>
                  <a:srgbClr val="203247"/>
                </a:solidFill>
              </a:defRPr>
            </a:defPPr>
          </a:lstStyle>
          <a:p xmlns:a="http://schemas.openxmlformats.org/drawingml/2006/main">
            <a:pPr algn="l">
              <a:defRPr sz="2175" b="1">
                <a:solidFill>
                  <a:srgbClr val="203247"/>
                </a:solidFill>
              </a:defRPr>
            </a:pPr>
            <a:r>
              <a:rPr sz="2175" b="1">
                <a:solidFill>
                  <a:srgbClr val="203247"/>
                </a:solidFill>
              </a:rPr>
              <a:t>Quick Safety Check</a:t>
            </a:r>
          </a:p>
        </p:txBody>
      </p:sp>
      <p:sp>
        <p:nvSpPr>
          <p:cNvPr id="8" name="">
            <a:extLst xmlns:a="http://schemas.openxmlformats.org/drawingml/2006/main">
              <a:ext uri="{FF2B5EF4-FFF2-40B4-BE49-F238E27FC236}">
                <a16:creationId xmlns:a16="http://schemas.microsoft.com/office/drawing/2014/main" id="{8E6AA2D1-FE63-4579-8C77-CCE46FFAAB7D}"/>
              </a:ext>
            </a:extLst>
          </p:cNvPr>
          <p:cNvSpPr>
            <a:spLocks xmlns:a="http://schemas.openxmlformats.org/drawingml/2006/main" noGrp="1"/>
          </p:cNvSpPr>
          <p:nvPr/>
        </p:nvSpPr>
        <p:spPr>
          <a:xfrm xmlns:a="http://schemas.openxmlformats.org/drawingml/2006/main">
            <a:off x="857250" y="30289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9" name="">
            <a:extLst xmlns:a="http://schemas.openxmlformats.org/drawingml/2006/main">
              <a:ext uri="{FF2B5EF4-FFF2-40B4-BE49-F238E27FC236}">
                <a16:creationId xmlns:a16="http://schemas.microsoft.com/office/drawing/2014/main" id="{E0D9B03F-DF86-40F6-AB69-8240681C2557}"/>
              </a:ext>
            </a:extLst>
          </p:cNvPr>
          <p:cNvSpPr>
            <a:spLocks xmlns:a="http://schemas.openxmlformats.org/drawingml/2006/main" noGrp="1"/>
          </p:cNvSpPr>
          <p:nvPr/>
        </p:nvSpPr>
        <p:spPr>
          <a:xfrm xmlns:a="http://schemas.openxmlformats.org/drawingml/2006/main">
            <a:off x="990600" y="30956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1</a:t>
            </a:r>
          </a:p>
        </p:txBody>
      </p:sp>
      <p:sp>
        <p:nvSpPr>
          <p:cNvPr id="10" name="">
            <a:extLst xmlns:a="http://schemas.openxmlformats.org/drawingml/2006/main">
              <a:ext uri="{FF2B5EF4-FFF2-40B4-BE49-F238E27FC236}">
                <a16:creationId xmlns:a16="http://schemas.microsoft.com/office/drawing/2014/main" id="{7B85FEB3-BC53-477C-9691-E1A0084A6C3F}"/>
              </a:ext>
            </a:extLst>
          </p:cNvPr>
          <p:cNvSpPr>
            <a:spLocks xmlns:a="http://schemas.openxmlformats.org/drawingml/2006/main" noGrp="1"/>
          </p:cNvSpPr>
          <p:nvPr/>
        </p:nvSpPr>
        <p:spPr>
          <a:xfrm xmlns:a="http://schemas.openxmlformats.org/drawingml/2006/main">
            <a:off x="1428750" y="30956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Choose room type</a:t>
            </a:r>
          </a:p>
        </p:txBody>
      </p:sp>
      <p:sp>
        <p:nvSpPr>
          <p:cNvPr id="11" name="">
            <a:extLst xmlns:a="http://schemas.openxmlformats.org/drawingml/2006/main">
              <a:ext uri="{FF2B5EF4-FFF2-40B4-BE49-F238E27FC236}">
                <a16:creationId xmlns:a16="http://schemas.microsoft.com/office/drawing/2014/main" id="{AB030EF8-0700-4F39-BFD2-41A8E710D99F}"/>
              </a:ext>
            </a:extLst>
          </p:cNvPr>
          <p:cNvSpPr>
            <a:spLocks xmlns:a="http://schemas.openxmlformats.org/drawingml/2006/main" noGrp="1"/>
          </p:cNvSpPr>
          <p:nvPr/>
        </p:nvSpPr>
        <p:spPr>
          <a:xfrm xmlns:a="http://schemas.openxmlformats.org/drawingml/2006/main">
            <a:off x="2895600" y="3543300"/>
            <a:ext cx="19050" cy="1238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898725-53A7-4141-900A-AD0F283B070F}"/>
              </a:ext>
            </a:extLst>
          </p:cNvPr>
          <p:cNvSpPr>
            <a:spLocks xmlns:a="http://schemas.openxmlformats.org/drawingml/2006/main" noGrp="1"/>
          </p:cNvSpPr>
          <p:nvPr/>
        </p:nvSpPr>
        <p:spPr>
          <a:xfrm xmlns:a="http://schemas.openxmlformats.org/drawingml/2006/main">
            <a:off x="2800350" y="3609975"/>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13" name="">
            <a:extLst xmlns:a="http://schemas.openxmlformats.org/drawingml/2006/main">
              <a:ext uri="{FF2B5EF4-FFF2-40B4-BE49-F238E27FC236}">
                <a16:creationId xmlns:a16="http://schemas.microsoft.com/office/drawing/2014/main" id="{2DECA2D1-4091-4289-A50B-8AACBD8C14E3}"/>
              </a:ext>
            </a:extLst>
          </p:cNvPr>
          <p:cNvSpPr>
            <a:spLocks xmlns:a="http://schemas.openxmlformats.org/drawingml/2006/main" noGrp="1"/>
          </p:cNvSpPr>
          <p:nvPr/>
        </p:nvSpPr>
        <p:spPr>
          <a:xfrm xmlns:a="http://schemas.openxmlformats.org/drawingml/2006/main">
            <a:off x="857250" y="37147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14" name="">
            <a:extLst xmlns:a="http://schemas.openxmlformats.org/drawingml/2006/main">
              <a:ext uri="{FF2B5EF4-FFF2-40B4-BE49-F238E27FC236}">
                <a16:creationId xmlns:a16="http://schemas.microsoft.com/office/drawing/2014/main" id="{2B5201F9-FB83-4D14-88A7-87A09A67A39F}"/>
              </a:ext>
            </a:extLst>
          </p:cNvPr>
          <p:cNvSpPr>
            <a:spLocks xmlns:a="http://schemas.openxmlformats.org/drawingml/2006/main" noGrp="1"/>
          </p:cNvSpPr>
          <p:nvPr/>
        </p:nvSpPr>
        <p:spPr>
          <a:xfrm xmlns:a="http://schemas.openxmlformats.org/drawingml/2006/main">
            <a:off x="990600" y="37814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2</a:t>
            </a:r>
          </a:p>
        </p:txBody>
      </p:sp>
      <p:sp>
        <p:nvSpPr>
          <p:cNvPr id="15" name="">
            <a:extLst xmlns:a="http://schemas.openxmlformats.org/drawingml/2006/main">
              <a:ext uri="{FF2B5EF4-FFF2-40B4-BE49-F238E27FC236}">
                <a16:creationId xmlns:a16="http://schemas.microsoft.com/office/drawing/2014/main" id="{11E9B8BF-26A4-4034-B552-E6520C6DDD67}"/>
              </a:ext>
            </a:extLst>
          </p:cNvPr>
          <p:cNvSpPr>
            <a:spLocks xmlns:a="http://schemas.openxmlformats.org/drawingml/2006/main" noGrp="1"/>
          </p:cNvSpPr>
          <p:nvPr/>
        </p:nvSpPr>
        <p:spPr>
          <a:xfrm xmlns:a="http://schemas.openxmlformats.org/drawingml/2006/main">
            <a:off x="1428750" y="37814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Upload one photo</a:t>
            </a:r>
          </a:p>
        </p:txBody>
      </p:sp>
      <p:sp>
        <p:nvSpPr>
          <p:cNvPr id="16" name="">
            <a:extLst xmlns:a="http://schemas.openxmlformats.org/drawingml/2006/main">
              <a:ext uri="{FF2B5EF4-FFF2-40B4-BE49-F238E27FC236}">
                <a16:creationId xmlns:a16="http://schemas.microsoft.com/office/drawing/2014/main" id="{2E7C22C2-8269-4CF0-8908-19056423E980}"/>
              </a:ext>
            </a:extLst>
          </p:cNvPr>
          <p:cNvSpPr>
            <a:spLocks xmlns:a="http://schemas.openxmlformats.org/drawingml/2006/main" noGrp="1"/>
          </p:cNvSpPr>
          <p:nvPr/>
        </p:nvSpPr>
        <p:spPr>
          <a:xfrm xmlns:a="http://schemas.openxmlformats.org/drawingml/2006/main">
            <a:off x="2895600" y="4229100"/>
            <a:ext cx="19050" cy="1238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BDEBA49-6D1C-469A-BB7E-9847FF177500}"/>
              </a:ext>
            </a:extLst>
          </p:cNvPr>
          <p:cNvSpPr>
            <a:spLocks xmlns:a="http://schemas.openxmlformats.org/drawingml/2006/main" noGrp="1"/>
          </p:cNvSpPr>
          <p:nvPr/>
        </p:nvSpPr>
        <p:spPr>
          <a:xfrm xmlns:a="http://schemas.openxmlformats.org/drawingml/2006/main">
            <a:off x="2800350" y="4295775"/>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18" name="">
            <a:extLst xmlns:a="http://schemas.openxmlformats.org/drawingml/2006/main">
              <a:ext uri="{FF2B5EF4-FFF2-40B4-BE49-F238E27FC236}">
                <a16:creationId xmlns:a16="http://schemas.microsoft.com/office/drawing/2014/main" id="{7730CEF2-4131-4923-B509-12B3A7C4790A}"/>
              </a:ext>
            </a:extLst>
          </p:cNvPr>
          <p:cNvSpPr>
            <a:spLocks xmlns:a="http://schemas.openxmlformats.org/drawingml/2006/main" noGrp="1"/>
          </p:cNvSpPr>
          <p:nvPr/>
        </p:nvSpPr>
        <p:spPr>
          <a:xfrm xmlns:a="http://schemas.openxmlformats.org/drawingml/2006/main">
            <a:off x="857250" y="44005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19" name="">
            <a:extLst xmlns:a="http://schemas.openxmlformats.org/drawingml/2006/main">
              <a:ext uri="{FF2B5EF4-FFF2-40B4-BE49-F238E27FC236}">
                <a16:creationId xmlns:a16="http://schemas.microsoft.com/office/drawing/2014/main" id="{47928CF0-84A6-4ECD-A1FE-17D719670857}"/>
              </a:ext>
            </a:extLst>
          </p:cNvPr>
          <p:cNvSpPr>
            <a:spLocks xmlns:a="http://schemas.openxmlformats.org/drawingml/2006/main" noGrp="1"/>
          </p:cNvSpPr>
          <p:nvPr/>
        </p:nvSpPr>
        <p:spPr>
          <a:xfrm xmlns:a="http://schemas.openxmlformats.org/drawingml/2006/main">
            <a:off x="990600" y="44672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3</a:t>
            </a:r>
          </a:p>
        </p:txBody>
      </p:sp>
      <p:sp>
        <p:nvSpPr>
          <p:cNvPr id="20" name="">
            <a:extLst xmlns:a="http://schemas.openxmlformats.org/drawingml/2006/main">
              <a:ext uri="{FF2B5EF4-FFF2-40B4-BE49-F238E27FC236}">
                <a16:creationId xmlns:a16="http://schemas.microsoft.com/office/drawing/2014/main" id="{ADD7D94D-ECA6-451B-81D1-C60F2DDB6EFD}"/>
              </a:ext>
            </a:extLst>
          </p:cNvPr>
          <p:cNvSpPr>
            <a:spLocks xmlns:a="http://schemas.openxmlformats.org/drawingml/2006/main" noGrp="1"/>
          </p:cNvSpPr>
          <p:nvPr/>
        </p:nvSpPr>
        <p:spPr>
          <a:xfrm xmlns:a="http://schemas.openxmlformats.org/drawingml/2006/main">
            <a:off x="1428750" y="44672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Get three priority actions</a:t>
            </a:r>
          </a:p>
        </p:txBody>
      </p:sp>
      <p:sp>
        <p:nvSpPr>
          <p:cNvPr id="21" name="">
            <a:extLst xmlns:a="http://schemas.openxmlformats.org/drawingml/2006/main">
              <a:ext uri="{FF2B5EF4-FFF2-40B4-BE49-F238E27FC236}">
                <a16:creationId xmlns:a16="http://schemas.microsoft.com/office/drawing/2014/main" id="{111F2D7D-533A-447C-B6E4-3A55F5725E50}"/>
              </a:ext>
            </a:extLst>
          </p:cNvPr>
          <p:cNvSpPr>
            <a:spLocks xmlns:a="http://schemas.openxmlformats.org/drawingml/2006/main" noGrp="1"/>
          </p:cNvSpPr>
          <p:nvPr/>
        </p:nvSpPr>
        <p:spPr>
          <a:xfrm xmlns:a="http://schemas.openxmlformats.org/drawingml/2006/main">
            <a:off x="6800850" y="1962150"/>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1E5D78"/>
                </a:solidFill>
              </a:defRPr>
            </a:defPPr>
          </a:lstStyle>
          <a:p xmlns:a="http://schemas.openxmlformats.org/drawingml/2006/main">
            <a:pPr algn="l">
              <a:defRPr sz="1200" b="1">
                <a:solidFill>
                  <a:srgbClr val="1E5D78"/>
                </a:solidFill>
              </a:defRPr>
            </a:pPr>
            <a:r>
              <a:rPr sz="1200" b="1">
                <a:solidFill>
                  <a:srgbClr val="1E5D78"/>
                </a:solidFill>
              </a:rPr>
              <a:t>FOR TRACKING</a:t>
            </a:r>
          </a:p>
        </p:txBody>
      </p:sp>
      <p:sp>
        <p:nvSpPr>
          <p:cNvPr id="22" name="">
            <a:extLst xmlns:a="http://schemas.openxmlformats.org/drawingml/2006/main">
              <a:ext uri="{FF2B5EF4-FFF2-40B4-BE49-F238E27FC236}">
                <a16:creationId xmlns:a16="http://schemas.microsoft.com/office/drawing/2014/main" id="{3B19BFD4-76A6-4844-A7FB-43F31B6BBA03}"/>
              </a:ext>
            </a:extLst>
          </p:cNvPr>
          <p:cNvSpPr>
            <a:spLocks xmlns:a="http://schemas.openxmlformats.org/drawingml/2006/main" noGrp="1"/>
          </p:cNvSpPr>
          <p:nvPr/>
        </p:nvSpPr>
        <p:spPr>
          <a:xfrm xmlns:a="http://schemas.openxmlformats.org/drawingml/2006/main">
            <a:off x="6800850" y="2381250"/>
            <a:ext cx="4524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175" b="1">
                <a:solidFill>
                  <a:srgbClr val="203247"/>
                </a:solidFill>
              </a:defRPr>
            </a:defPPr>
          </a:lstStyle>
          <a:p xmlns:a="http://schemas.openxmlformats.org/drawingml/2006/main">
            <a:pPr algn="l">
              <a:defRPr sz="2175" b="1">
                <a:solidFill>
                  <a:srgbClr val="203247"/>
                </a:solidFill>
              </a:defRPr>
            </a:pPr>
            <a:r>
              <a:rPr sz="2175" b="1">
                <a:solidFill>
                  <a:srgbClr val="203247"/>
                </a:solidFill>
              </a:rPr>
              <a:t>Account Check</a:t>
            </a:r>
          </a:p>
        </p:txBody>
      </p:sp>
      <p:sp>
        <p:nvSpPr>
          <p:cNvPr id="23" name="">
            <a:extLst xmlns:a="http://schemas.openxmlformats.org/drawingml/2006/main">
              <a:ext uri="{FF2B5EF4-FFF2-40B4-BE49-F238E27FC236}">
                <a16:creationId xmlns:a16="http://schemas.microsoft.com/office/drawing/2014/main" id="{431EE623-57A6-49C6-803A-77C45B60781F}"/>
              </a:ext>
            </a:extLst>
          </p:cNvPr>
          <p:cNvSpPr>
            <a:spLocks xmlns:a="http://schemas.openxmlformats.org/drawingml/2006/main" noGrp="1"/>
          </p:cNvSpPr>
          <p:nvPr/>
        </p:nvSpPr>
        <p:spPr>
          <a:xfrm xmlns:a="http://schemas.openxmlformats.org/drawingml/2006/main">
            <a:off x="6800850" y="30289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24" name="">
            <a:extLst xmlns:a="http://schemas.openxmlformats.org/drawingml/2006/main">
              <a:ext uri="{FF2B5EF4-FFF2-40B4-BE49-F238E27FC236}">
                <a16:creationId xmlns:a16="http://schemas.microsoft.com/office/drawing/2014/main" id="{B76806ED-7D1C-4524-A37B-6F6E4CA10B47}"/>
              </a:ext>
            </a:extLst>
          </p:cNvPr>
          <p:cNvSpPr>
            <a:spLocks xmlns:a="http://schemas.openxmlformats.org/drawingml/2006/main" noGrp="1"/>
          </p:cNvSpPr>
          <p:nvPr/>
        </p:nvSpPr>
        <p:spPr>
          <a:xfrm xmlns:a="http://schemas.openxmlformats.org/drawingml/2006/main">
            <a:off x="6934200" y="30956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1</a:t>
            </a:r>
          </a:p>
        </p:txBody>
      </p:sp>
      <p:sp>
        <p:nvSpPr>
          <p:cNvPr id="25" name="">
            <a:extLst xmlns:a="http://schemas.openxmlformats.org/drawingml/2006/main">
              <a:ext uri="{FF2B5EF4-FFF2-40B4-BE49-F238E27FC236}">
                <a16:creationId xmlns:a16="http://schemas.microsoft.com/office/drawing/2014/main" id="{58BF47C3-563A-4493-9FB1-E99752056818}"/>
              </a:ext>
            </a:extLst>
          </p:cNvPr>
          <p:cNvSpPr>
            <a:spLocks xmlns:a="http://schemas.openxmlformats.org/drawingml/2006/main" noGrp="1"/>
          </p:cNvSpPr>
          <p:nvPr/>
        </p:nvSpPr>
        <p:spPr>
          <a:xfrm xmlns:a="http://schemas.openxmlformats.org/drawingml/2006/main">
            <a:off x="7372350" y="30956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Sign in and select Room Name</a:t>
            </a:r>
          </a:p>
        </p:txBody>
      </p:sp>
      <p:sp>
        <p:nvSpPr>
          <p:cNvPr id="26" name="">
            <a:extLst xmlns:a="http://schemas.openxmlformats.org/drawingml/2006/main">
              <a:ext uri="{FF2B5EF4-FFF2-40B4-BE49-F238E27FC236}">
                <a16:creationId xmlns:a16="http://schemas.microsoft.com/office/drawing/2014/main" id="{785A148C-6FB0-49EC-8B3E-19CC2D82DAB8}"/>
              </a:ext>
            </a:extLst>
          </p:cNvPr>
          <p:cNvSpPr>
            <a:spLocks xmlns:a="http://schemas.openxmlformats.org/drawingml/2006/main" noGrp="1"/>
          </p:cNvSpPr>
          <p:nvPr/>
        </p:nvSpPr>
        <p:spPr>
          <a:xfrm xmlns:a="http://schemas.openxmlformats.org/drawingml/2006/main">
            <a:off x="8839200" y="3543300"/>
            <a:ext cx="19050" cy="1238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A4D1DD0-ABF2-4A3E-B285-3060AD7432DB}"/>
              </a:ext>
            </a:extLst>
          </p:cNvPr>
          <p:cNvSpPr>
            <a:spLocks xmlns:a="http://schemas.openxmlformats.org/drawingml/2006/main" noGrp="1"/>
          </p:cNvSpPr>
          <p:nvPr/>
        </p:nvSpPr>
        <p:spPr>
          <a:xfrm xmlns:a="http://schemas.openxmlformats.org/drawingml/2006/main">
            <a:off x="8743950" y="3609975"/>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28" name="">
            <a:extLst xmlns:a="http://schemas.openxmlformats.org/drawingml/2006/main">
              <a:ext uri="{FF2B5EF4-FFF2-40B4-BE49-F238E27FC236}">
                <a16:creationId xmlns:a16="http://schemas.microsoft.com/office/drawing/2014/main" id="{2FEF94B7-F94D-4398-92DE-7E217F1FB254}"/>
              </a:ext>
            </a:extLst>
          </p:cNvPr>
          <p:cNvSpPr>
            <a:spLocks xmlns:a="http://schemas.openxmlformats.org/drawingml/2006/main" noGrp="1"/>
          </p:cNvSpPr>
          <p:nvPr/>
        </p:nvSpPr>
        <p:spPr>
          <a:xfrm xmlns:a="http://schemas.openxmlformats.org/drawingml/2006/main">
            <a:off x="6800850" y="37147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29" name="">
            <a:extLst xmlns:a="http://schemas.openxmlformats.org/drawingml/2006/main">
              <a:ext uri="{FF2B5EF4-FFF2-40B4-BE49-F238E27FC236}">
                <a16:creationId xmlns:a16="http://schemas.microsoft.com/office/drawing/2014/main" id="{8968CB58-B28C-4B25-9C55-4FBC20DDB8FD}"/>
              </a:ext>
            </a:extLst>
          </p:cNvPr>
          <p:cNvSpPr>
            <a:spLocks xmlns:a="http://schemas.openxmlformats.org/drawingml/2006/main" noGrp="1"/>
          </p:cNvSpPr>
          <p:nvPr/>
        </p:nvSpPr>
        <p:spPr>
          <a:xfrm xmlns:a="http://schemas.openxmlformats.org/drawingml/2006/main">
            <a:off x="6934200" y="37814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2</a:t>
            </a:r>
          </a:p>
        </p:txBody>
      </p:sp>
      <p:sp>
        <p:nvSpPr>
          <p:cNvPr id="30" name="">
            <a:extLst xmlns:a="http://schemas.openxmlformats.org/drawingml/2006/main">
              <a:ext uri="{FF2B5EF4-FFF2-40B4-BE49-F238E27FC236}">
                <a16:creationId xmlns:a16="http://schemas.microsoft.com/office/drawing/2014/main" id="{D1439348-6D86-4A68-86D4-60627151DCA1}"/>
              </a:ext>
            </a:extLst>
          </p:cNvPr>
          <p:cNvSpPr>
            <a:spLocks xmlns:a="http://schemas.openxmlformats.org/drawingml/2006/main" noGrp="1"/>
          </p:cNvSpPr>
          <p:nvPr/>
        </p:nvSpPr>
        <p:spPr>
          <a:xfrm xmlns:a="http://schemas.openxmlformats.org/drawingml/2006/main">
            <a:off x="7372350" y="37814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Run the same safety check</a:t>
            </a:r>
          </a:p>
        </p:txBody>
      </p:sp>
      <p:sp>
        <p:nvSpPr>
          <p:cNvPr id="31" name="">
            <a:extLst xmlns:a="http://schemas.openxmlformats.org/drawingml/2006/main">
              <a:ext uri="{FF2B5EF4-FFF2-40B4-BE49-F238E27FC236}">
                <a16:creationId xmlns:a16="http://schemas.microsoft.com/office/drawing/2014/main" id="{AAD062EB-E77D-4378-9A75-BF6F2016AC58}"/>
              </a:ext>
            </a:extLst>
          </p:cNvPr>
          <p:cNvSpPr>
            <a:spLocks xmlns:a="http://schemas.openxmlformats.org/drawingml/2006/main" noGrp="1"/>
          </p:cNvSpPr>
          <p:nvPr/>
        </p:nvSpPr>
        <p:spPr>
          <a:xfrm xmlns:a="http://schemas.openxmlformats.org/drawingml/2006/main">
            <a:off x="8839200" y="4229100"/>
            <a:ext cx="19050" cy="1238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01B9A53-D8F9-48F9-820C-13D4E9ED0124}"/>
              </a:ext>
            </a:extLst>
          </p:cNvPr>
          <p:cNvSpPr>
            <a:spLocks xmlns:a="http://schemas.openxmlformats.org/drawingml/2006/main" noGrp="1"/>
          </p:cNvSpPr>
          <p:nvPr/>
        </p:nvSpPr>
        <p:spPr>
          <a:xfrm xmlns:a="http://schemas.openxmlformats.org/drawingml/2006/main">
            <a:off x="8743950" y="4295775"/>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33" name="">
            <a:extLst xmlns:a="http://schemas.openxmlformats.org/drawingml/2006/main">
              <a:ext uri="{FF2B5EF4-FFF2-40B4-BE49-F238E27FC236}">
                <a16:creationId xmlns:a16="http://schemas.microsoft.com/office/drawing/2014/main" id="{66E3CE4E-1956-42FD-8452-1A53DAEC425E}"/>
              </a:ext>
            </a:extLst>
          </p:cNvPr>
          <p:cNvSpPr>
            <a:spLocks xmlns:a="http://schemas.openxmlformats.org/drawingml/2006/main" noGrp="1"/>
          </p:cNvSpPr>
          <p:nvPr/>
        </p:nvSpPr>
        <p:spPr>
          <a:xfrm xmlns:a="http://schemas.openxmlformats.org/drawingml/2006/main">
            <a:off x="6800850" y="4400550"/>
            <a:ext cx="4095750" cy="514350"/>
          </a:xfrm>
          <a:prstGeom xmlns:a="http://schemas.openxmlformats.org/drawingml/2006/main" prst="roundRect">
            <a:avLst>
              <a:gd name="adj" fmla="val 14815"/>
            </a:avLst>
          </a:prstGeom>
          <a:solidFill xmlns:a="http://schemas.openxmlformats.org/drawingml/2006/main">
            <a:srgbClr val="FFFDFC"/>
          </a:solidFill>
          <a:ln xmlns:a="http://schemas.openxmlformats.org/drawingml/2006/main" w="9525">
            <a:solidFill>
              <a:srgbClr val="D8D3CA"/>
            </a:solidFill>
            <a:prstDash val="solid"/>
          </a:ln>
        </p:spPr>
      </p:sp>
      <p:sp>
        <p:nvSpPr>
          <p:cNvPr id="34" name="">
            <a:extLst xmlns:a="http://schemas.openxmlformats.org/drawingml/2006/main">
              <a:ext uri="{FF2B5EF4-FFF2-40B4-BE49-F238E27FC236}">
                <a16:creationId xmlns:a16="http://schemas.microsoft.com/office/drawing/2014/main" id="{7F5D6BD1-A5C4-423A-9475-27EB2E9A1F54}"/>
              </a:ext>
            </a:extLst>
          </p:cNvPr>
          <p:cNvSpPr>
            <a:spLocks xmlns:a="http://schemas.openxmlformats.org/drawingml/2006/main" noGrp="1"/>
          </p:cNvSpPr>
          <p:nvPr/>
        </p:nvSpPr>
        <p:spPr>
          <a:xfrm xmlns:a="http://schemas.openxmlformats.org/drawingml/2006/main">
            <a:off x="6934200" y="446722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3</a:t>
            </a:r>
          </a:p>
        </p:txBody>
      </p:sp>
      <p:sp>
        <p:nvSpPr>
          <p:cNvPr id="35" name="">
            <a:extLst xmlns:a="http://schemas.openxmlformats.org/drawingml/2006/main">
              <a:ext uri="{FF2B5EF4-FFF2-40B4-BE49-F238E27FC236}">
                <a16:creationId xmlns:a16="http://schemas.microsoft.com/office/drawing/2014/main" id="{1AD03E5F-4E90-409C-8EA9-2FF3E2937F46}"/>
              </a:ext>
            </a:extLst>
          </p:cNvPr>
          <p:cNvSpPr>
            <a:spLocks xmlns:a="http://schemas.openxmlformats.org/drawingml/2006/main" noGrp="1"/>
          </p:cNvSpPr>
          <p:nvPr/>
        </p:nvSpPr>
        <p:spPr>
          <a:xfrm xmlns:a="http://schemas.openxmlformats.org/drawingml/2006/main">
            <a:off x="7372350" y="4467225"/>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1">
                <a:solidFill>
                  <a:srgbClr val="2C3E50"/>
                </a:solidFill>
              </a:defRPr>
            </a:defPPr>
          </a:lstStyle>
          <a:p xmlns:a="http://schemas.openxmlformats.org/drawingml/2006/main">
            <a:pPr algn="l">
              <a:defRPr sz="1425" b="1">
                <a:solidFill>
                  <a:srgbClr val="2C3E50"/>
                </a:solidFill>
              </a:defRPr>
            </a:pPr>
            <a:r>
              <a:rPr sz="1425" b="1">
                <a:solidFill>
                  <a:srgbClr val="2C3E50"/>
                </a:solidFill>
              </a:rPr>
              <a:t>Track trends and share summaries</a:t>
            </a:r>
          </a:p>
        </p:txBody>
      </p:sp>
      <p:sp>
        <p:nvSpPr>
          <p:cNvPr id="36" name="">
            <a:extLst xmlns:a="http://schemas.openxmlformats.org/drawingml/2006/main">
              <a:ext uri="{FF2B5EF4-FFF2-40B4-BE49-F238E27FC236}">
                <a16:creationId xmlns:a16="http://schemas.microsoft.com/office/drawing/2014/main" id="{34788E47-DE0D-419E-9600-EF47B6B144EA}"/>
              </a:ext>
            </a:extLst>
          </p:cNvPr>
          <p:cNvSpPr>
            <a:spLocks xmlns:a="http://schemas.openxmlformats.org/drawingml/2006/main" noGrp="1"/>
          </p:cNvSpPr>
          <p:nvPr/>
        </p:nvSpPr>
        <p:spPr>
          <a:xfrm xmlns:a="http://schemas.openxmlformats.org/drawingml/2006/main">
            <a:off x="857250" y="5219700"/>
            <a:ext cx="10458450" cy="19050"/>
          </a:xfrm>
          <a:prstGeom xmlns:a="http://schemas.openxmlformats.org/drawingml/2006/main" prst="rect">
            <a:avLst/>
          </a:prstGeom>
          <a:solidFill xmlns:a="http://schemas.openxmlformats.org/drawingml/2006/main">
            <a:srgbClr val="D8D3CA"/>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554481BA-146C-440A-A1BB-DFBB4DB399CD}"/>
              </a:ext>
            </a:extLst>
          </p:cNvPr>
          <p:cNvSpPr>
            <a:spLocks xmlns:a="http://schemas.openxmlformats.org/drawingml/2006/main" noGrp="1"/>
          </p:cNvSpPr>
          <p:nvPr/>
        </p:nvSpPr>
        <p:spPr>
          <a:xfrm xmlns:a="http://schemas.openxmlformats.org/drawingml/2006/main">
            <a:off x="2381250" y="5314950"/>
            <a:ext cx="7429500" cy="552450"/>
          </a:xfrm>
          <a:prstGeom xmlns:a="http://schemas.openxmlformats.org/drawingml/2006/main" prst="roundRect">
            <a:avLst>
              <a:gd name="adj" fmla="val 13793"/>
            </a:avLst>
          </a:prstGeom>
          <a:solidFill xmlns:a="http://schemas.openxmlformats.org/drawingml/2006/main">
            <a:srgbClr val="E3EEF1"/>
          </a:solidFill>
          <a:ln xmlns:a="http://schemas.openxmlformats.org/drawingml/2006/main" w="9525">
            <a:solidFill>
              <a:srgbClr val="1E5D78"/>
            </a:solidFill>
            <a:prstDash val="solid"/>
          </a:ln>
        </p:spPr>
      </p:sp>
      <p:sp>
        <p:nvSpPr>
          <p:cNvPr id="38" name="">
            <a:extLst xmlns:a="http://schemas.openxmlformats.org/drawingml/2006/main">
              <a:ext uri="{FF2B5EF4-FFF2-40B4-BE49-F238E27FC236}">
                <a16:creationId xmlns:a16="http://schemas.microsoft.com/office/drawing/2014/main" id="{BC24B51F-D24B-4986-8D66-91C366E64E4D}"/>
              </a:ext>
            </a:extLst>
          </p:cNvPr>
          <p:cNvSpPr>
            <a:spLocks xmlns:a="http://schemas.openxmlformats.org/drawingml/2006/main" noGrp="1"/>
          </p:cNvSpPr>
          <p:nvPr/>
        </p:nvSpPr>
        <p:spPr>
          <a:xfrm xmlns:a="http://schemas.openxmlformats.org/drawingml/2006/main">
            <a:off x="2571750" y="5410200"/>
            <a:ext cx="704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BOTH PATHS  →  photo review  →  validated hazards  →  follow-up questions  →  room score</a:t>
            </a:r>
          </a:p>
        </p:txBody>
      </p:sp>
    </p:spTree>
    <p:extLst>
      <p:ext uri="{BB962C8B-B14F-4D97-AF65-F5344CB8AC3E}">
        <p14:creationId xmlns:p14="http://schemas.microsoft.com/office/powerpoint/2010/main" val="764625541"/>
      </p:ext>
    </p:extLst>
  </p:cSld>
</p:sld>
</file>

<file path=ppt/slides/slide3.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4B2E955C-DC5E-4D11-97BB-ACECD3B17A38}"/>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5447A4-1033-46E8-A9EA-0944BDC36DF9}"/>
              </a:ext>
            </a:extLst>
          </p:cNvPr>
          <p:cNvSpPr>
            <a:spLocks xmlns:a="http://schemas.openxmlformats.org/drawingml/2006/main" noGrp="1"/>
          </p:cNvSpPr>
          <p:nvPr/>
        </p:nvSpPr>
        <p:spPr>
          <a:xfrm xmlns:a="http://schemas.openxmlformats.org/drawingml/2006/main">
            <a:off x="628650" y="438150"/>
            <a:ext cx="1093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700" b="1">
                <a:solidFill>
                  <a:srgbClr val="203247"/>
                </a:solidFill>
              </a:defRPr>
            </a:defPPr>
          </a:lstStyle>
          <a:p xmlns:a="http://schemas.openxmlformats.org/drawingml/2006/main">
            <a:pPr algn="l">
              <a:defRPr sz="2700" b="1">
                <a:solidFill>
                  <a:srgbClr val="203247"/>
                </a:solidFill>
              </a:defRPr>
            </a:pPr>
            <a:r>
              <a:rPr sz="2700" b="1">
                <a:solidFill>
                  <a:srgbClr val="203247"/>
                </a:solidFill>
              </a:rPr>
              <a:t>From photo to saved progress</a:t>
            </a:r>
          </a:p>
        </p:txBody>
      </p:sp>
      <p:sp>
        <p:nvSpPr>
          <p:cNvPr id="3" name="">
            <a:extLst xmlns:a="http://schemas.openxmlformats.org/drawingml/2006/main">
              <a:ext uri="{FF2B5EF4-FFF2-40B4-BE49-F238E27FC236}">
                <a16:creationId xmlns:a16="http://schemas.microsoft.com/office/drawing/2014/main" id="{578E5DFC-C133-4D58-B865-ADBE413C7016}"/>
              </a:ext>
            </a:extLst>
          </p:cNvPr>
          <p:cNvSpPr>
            <a:spLocks xmlns:a="http://schemas.openxmlformats.org/drawingml/2006/main" noGrp="1"/>
          </p:cNvSpPr>
          <p:nvPr/>
        </p:nvSpPr>
        <p:spPr>
          <a:xfrm xmlns:a="http://schemas.openxmlformats.org/drawingml/2006/main">
            <a:off x="628650" y="9715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0">
                <a:solidFill>
                  <a:srgbClr val="59677A"/>
                </a:solidFill>
              </a:defRPr>
            </a:defPPr>
          </a:lstStyle>
          <a:p xmlns:a="http://schemas.openxmlformats.org/drawingml/2006/main">
            <a:pPr algn="l">
              <a:defRPr sz="1425" b="0">
                <a:solidFill>
                  <a:srgbClr val="59677A"/>
                </a:solidFill>
              </a:defRPr>
            </a:pPr>
            <a:r>
              <a:rPr sz="1425" b="0">
                <a:solidFill>
                  <a:srgbClr val="59677A"/>
                </a:solidFill>
              </a:rPr>
              <a:t>One end-to-end flow connects the interface, Vision AI, validation, Supabase, and Brevo.</a:t>
            </a:r>
          </a:p>
        </p:txBody>
      </p:sp>
      <p:sp>
        <p:nvSpPr>
          <p:cNvPr id="4" name="">
            <a:extLst xmlns:a="http://schemas.openxmlformats.org/drawingml/2006/main">
              <a:ext uri="{FF2B5EF4-FFF2-40B4-BE49-F238E27FC236}">
                <a16:creationId xmlns:a16="http://schemas.microsoft.com/office/drawing/2014/main" id="{865BC3CB-A75C-4A13-834A-5D4A0BB94B78}"/>
              </a:ext>
            </a:extLst>
          </p:cNvPr>
          <p:cNvSpPr>
            <a:spLocks xmlns:a="http://schemas.openxmlformats.org/drawingml/2006/main" noGrp="1"/>
          </p:cNvSpPr>
          <p:nvPr/>
        </p:nvSpPr>
        <p:spPr>
          <a:xfrm xmlns:a="http://schemas.openxmlformats.org/drawingml/2006/main">
            <a:off x="10858500" y="64293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3</a:t>
            </a:r>
          </a:p>
        </p:txBody>
      </p:sp>
      <p:sp>
        <p:nvSpPr>
          <p:cNvPr id="5" name="">
            <a:extLst xmlns:a="http://schemas.openxmlformats.org/drawingml/2006/main">
              <a:ext uri="{FF2B5EF4-FFF2-40B4-BE49-F238E27FC236}">
                <a16:creationId xmlns:a16="http://schemas.microsoft.com/office/drawing/2014/main" id="{F5EA3D49-EB94-425C-B0C8-E3AA85CCAF6C}"/>
              </a:ext>
            </a:extLst>
          </p:cNvPr>
          <p:cNvSpPr>
            <a:spLocks xmlns:a="http://schemas.openxmlformats.org/drawingml/2006/main" noGrp="1"/>
          </p:cNvSpPr>
          <p:nvPr/>
        </p:nvSpPr>
        <p:spPr>
          <a:xfrm xmlns:a="http://schemas.openxmlformats.org/drawingml/2006/main">
            <a:off x="4762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6" name="">
            <a:extLst xmlns:a="http://schemas.openxmlformats.org/drawingml/2006/main">
              <a:ext uri="{FF2B5EF4-FFF2-40B4-BE49-F238E27FC236}">
                <a16:creationId xmlns:a16="http://schemas.microsoft.com/office/drawing/2014/main" id="{8E362E7E-6A5B-4342-8BF3-C221D64B58BD}"/>
              </a:ext>
            </a:extLst>
          </p:cNvPr>
          <p:cNvSpPr>
            <a:spLocks xmlns:a="http://schemas.openxmlformats.org/drawingml/2006/main" noGrp="1"/>
          </p:cNvSpPr>
          <p:nvPr/>
        </p:nvSpPr>
        <p:spPr>
          <a:xfrm xmlns:a="http://schemas.openxmlformats.org/drawingml/2006/main">
            <a:off x="5715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STREAMLIT</a:t>
            </a:r>
          </a:p>
        </p:txBody>
      </p:sp>
      <p:sp>
        <p:nvSpPr>
          <p:cNvPr id="7" name="">
            <a:extLst xmlns:a="http://schemas.openxmlformats.org/drawingml/2006/main">
              <a:ext uri="{FF2B5EF4-FFF2-40B4-BE49-F238E27FC236}">
                <a16:creationId xmlns:a16="http://schemas.microsoft.com/office/drawing/2014/main" id="{096E0978-6053-4FAE-A829-9339289D78C8}"/>
              </a:ext>
            </a:extLst>
          </p:cNvPr>
          <p:cNvSpPr>
            <a:spLocks xmlns:a="http://schemas.openxmlformats.org/drawingml/2006/main" noGrp="1"/>
          </p:cNvSpPr>
          <p:nvPr/>
        </p:nvSpPr>
        <p:spPr>
          <a:xfrm xmlns:a="http://schemas.openxmlformats.org/drawingml/2006/main">
            <a:off x="5905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receives photo</a:t>
            </a:r>
          </a:p>
          <a:p xmlns:a="http://schemas.openxmlformats.org/drawingml/2006/main">
            <a:pPr algn="ctr">
              <a:defRPr sz="1200" b="0">
                <a:solidFill>
                  <a:srgbClr val="2C3E50"/>
                </a:solidFill>
              </a:defRPr>
            </a:pPr>
            <a:r>
              <a:rPr sz="1200" b="0">
                <a:solidFill>
                  <a:srgbClr val="2C3E50"/>
                </a:solidFill>
              </a:rPr>
              <a:t>and Room Type</a:t>
            </a:r>
          </a:p>
        </p:txBody>
      </p:sp>
      <p:sp>
        <p:nvSpPr>
          <p:cNvPr id="8" name="">
            <a:extLst xmlns:a="http://schemas.openxmlformats.org/drawingml/2006/main">
              <a:ext uri="{FF2B5EF4-FFF2-40B4-BE49-F238E27FC236}">
                <a16:creationId xmlns:a16="http://schemas.microsoft.com/office/drawing/2014/main" id="{63411208-BF26-46C6-BE3E-19894C76D5BB}"/>
              </a:ext>
            </a:extLst>
          </p:cNvPr>
          <p:cNvSpPr>
            <a:spLocks xmlns:a="http://schemas.openxmlformats.org/drawingml/2006/main" noGrp="1"/>
          </p:cNvSpPr>
          <p:nvPr/>
        </p:nvSpPr>
        <p:spPr>
          <a:xfrm xmlns:a="http://schemas.openxmlformats.org/drawingml/2006/main">
            <a:off x="2133600" y="209550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800" b="1">
                <a:solidFill>
                  <a:srgbClr val="1E5D78"/>
                </a:solidFill>
              </a:defRPr>
            </a:defPPr>
          </a:lstStyle>
          <a:p xmlns:a="http://schemas.openxmlformats.org/drawingml/2006/main">
            <a:pPr algn="ctr">
              <a:defRPr sz="1800" b="1">
                <a:solidFill>
                  <a:srgbClr val="1E5D78"/>
                </a:solidFill>
              </a:defRPr>
            </a:pPr>
            <a:r>
              <a:rPr sz="1800" b="1">
                <a:solidFill>
                  <a:srgbClr val="1E5D78"/>
                </a:solidFill>
              </a:rPr>
              <a:t>→</a:t>
            </a:r>
          </a:p>
        </p:txBody>
      </p:sp>
      <p:sp>
        <p:nvSpPr>
          <p:cNvPr id="9" name="">
            <a:extLst xmlns:a="http://schemas.openxmlformats.org/drawingml/2006/main">
              <a:ext uri="{FF2B5EF4-FFF2-40B4-BE49-F238E27FC236}">
                <a16:creationId xmlns:a16="http://schemas.microsoft.com/office/drawing/2014/main" id="{B7ADD4FD-389D-4967-AED7-0FB764E9874C}"/>
              </a:ext>
            </a:extLst>
          </p:cNvPr>
          <p:cNvSpPr>
            <a:spLocks xmlns:a="http://schemas.openxmlformats.org/drawingml/2006/main" noGrp="1"/>
          </p:cNvSpPr>
          <p:nvPr/>
        </p:nvSpPr>
        <p:spPr>
          <a:xfrm xmlns:a="http://schemas.openxmlformats.org/drawingml/2006/main">
            <a:off x="24193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10" name="">
            <a:extLst xmlns:a="http://schemas.openxmlformats.org/drawingml/2006/main">
              <a:ext uri="{FF2B5EF4-FFF2-40B4-BE49-F238E27FC236}">
                <a16:creationId xmlns:a16="http://schemas.microsoft.com/office/drawing/2014/main" id="{3B1DFE82-9A33-4077-80CE-8C39564D9427}"/>
              </a:ext>
            </a:extLst>
          </p:cNvPr>
          <p:cNvSpPr>
            <a:spLocks xmlns:a="http://schemas.openxmlformats.org/drawingml/2006/main" noGrp="1"/>
          </p:cNvSpPr>
          <p:nvPr/>
        </p:nvSpPr>
        <p:spPr>
          <a:xfrm xmlns:a="http://schemas.openxmlformats.org/drawingml/2006/main">
            <a:off x="25146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QUALITY GATE</a:t>
            </a:r>
          </a:p>
        </p:txBody>
      </p:sp>
      <p:sp>
        <p:nvSpPr>
          <p:cNvPr id="11" name="">
            <a:extLst xmlns:a="http://schemas.openxmlformats.org/drawingml/2006/main">
              <a:ext uri="{FF2B5EF4-FFF2-40B4-BE49-F238E27FC236}">
                <a16:creationId xmlns:a16="http://schemas.microsoft.com/office/drawing/2014/main" id="{7C231C6C-BEF0-4E9C-9A69-400C5876DCCC}"/>
              </a:ext>
            </a:extLst>
          </p:cNvPr>
          <p:cNvSpPr>
            <a:spLocks xmlns:a="http://schemas.openxmlformats.org/drawingml/2006/main" noGrp="1"/>
          </p:cNvSpPr>
          <p:nvPr/>
        </p:nvSpPr>
        <p:spPr>
          <a:xfrm xmlns:a="http://schemas.openxmlformats.org/drawingml/2006/main">
            <a:off x="25336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orientation • light</a:t>
            </a:r>
          </a:p>
          <a:p xmlns:a="http://schemas.openxmlformats.org/drawingml/2006/main">
            <a:pPr algn="ctr">
              <a:defRPr sz="1200" b="0">
                <a:solidFill>
                  <a:srgbClr val="2C3E50"/>
                </a:solidFill>
              </a:defRPr>
            </a:pPr>
            <a:r>
              <a:rPr sz="1200" b="0">
                <a:solidFill>
                  <a:srgbClr val="2C3E50"/>
                </a:solidFill>
              </a:rPr>
              <a:t>contrast • blur</a:t>
            </a:r>
          </a:p>
        </p:txBody>
      </p:sp>
      <p:sp>
        <p:nvSpPr>
          <p:cNvPr id="12" name="">
            <a:extLst xmlns:a="http://schemas.openxmlformats.org/drawingml/2006/main">
              <a:ext uri="{FF2B5EF4-FFF2-40B4-BE49-F238E27FC236}">
                <a16:creationId xmlns:a16="http://schemas.microsoft.com/office/drawing/2014/main" id="{75F2484B-4AC6-4C89-AB21-03F449F17BCC}"/>
              </a:ext>
            </a:extLst>
          </p:cNvPr>
          <p:cNvSpPr>
            <a:spLocks xmlns:a="http://schemas.openxmlformats.org/drawingml/2006/main" noGrp="1"/>
          </p:cNvSpPr>
          <p:nvPr/>
        </p:nvSpPr>
        <p:spPr>
          <a:xfrm xmlns:a="http://schemas.openxmlformats.org/drawingml/2006/main">
            <a:off x="4076700" y="209550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800" b="1">
                <a:solidFill>
                  <a:srgbClr val="1E5D78"/>
                </a:solidFill>
              </a:defRPr>
            </a:defPPr>
          </a:lstStyle>
          <a:p xmlns:a="http://schemas.openxmlformats.org/drawingml/2006/main">
            <a:pPr algn="ctr">
              <a:defRPr sz="1800" b="1">
                <a:solidFill>
                  <a:srgbClr val="1E5D78"/>
                </a:solidFill>
              </a:defRPr>
            </a:pPr>
            <a:r>
              <a:rPr sz="1800" b="1">
                <a:solidFill>
                  <a:srgbClr val="1E5D78"/>
                </a:solidFill>
              </a:rPr>
              <a:t>→</a:t>
            </a:r>
          </a:p>
        </p:txBody>
      </p:sp>
      <p:sp>
        <p:nvSpPr>
          <p:cNvPr id="13" name="">
            <a:extLst xmlns:a="http://schemas.openxmlformats.org/drawingml/2006/main">
              <a:ext uri="{FF2B5EF4-FFF2-40B4-BE49-F238E27FC236}">
                <a16:creationId xmlns:a16="http://schemas.microsoft.com/office/drawing/2014/main" id="{DC82B450-64DA-40EB-B7A7-586AB2C723EA}"/>
              </a:ext>
            </a:extLst>
          </p:cNvPr>
          <p:cNvSpPr>
            <a:spLocks xmlns:a="http://schemas.openxmlformats.org/drawingml/2006/main" noGrp="1"/>
          </p:cNvSpPr>
          <p:nvPr/>
        </p:nvSpPr>
        <p:spPr>
          <a:xfrm xmlns:a="http://schemas.openxmlformats.org/drawingml/2006/main">
            <a:off x="43624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14" name="">
            <a:extLst xmlns:a="http://schemas.openxmlformats.org/drawingml/2006/main">
              <a:ext uri="{FF2B5EF4-FFF2-40B4-BE49-F238E27FC236}">
                <a16:creationId xmlns:a16="http://schemas.microsoft.com/office/drawing/2014/main" id="{FC353DBB-373E-4729-896B-C534128B906A}"/>
              </a:ext>
            </a:extLst>
          </p:cNvPr>
          <p:cNvSpPr>
            <a:spLocks xmlns:a="http://schemas.openxmlformats.org/drawingml/2006/main" noGrp="1"/>
          </p:cNvSpPr>
          <p:nvPr/>
        </p:nvSpPr>
        <p:spPr>
          <a:xfrm xmlns:a="http://schemas.openxmlformats.org/drawingml/2006/main">
            <a:off x="44577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OPENAI VISION</a:t>
            </a:r>
          </a:p>
        </p:txBody>
      </p:sp>
      <p:sp>
        <p:nvSpPr>
          <p:cNvPr id="15" name="">
            <a:extLst xmlns:a="http://schemas.openxmlformats.org/drawingml/2006/main">
              <a:ext uri="{FF2B5EF4-FFF2-40B4-BE49-F238E27FC236}">
                <a16:creationId xmlns:a16="http://schemas.microsoft.com/office/drawing/2014/main" id="{F0CB0CB4-E218-4A39-BE8A-F1234E8C1BEB}"/>
              </a:ext>
            </a:extLst>
          </p:cNvPr>
          <p:cNvSpPr>
            <a:spLocks xmlns:a="http://schemas.openxmlformats.org/drawingml/2006/main" noGrp="1"/>
          </p:cNvSpPr>
          <p:nvPr/>
        </p:nvSpPr>
        <p:spPr>
          <a:xfrm xmlns:a="http://schemas.openxmlformats.org/drawingml/2006/main">
            <a:off x="44767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hazards • evidence</a:t>
            </a:r>
          </a:p>
          <a:p xmlns:a="http://schemas.openxmlformats.org/drawingml/2006/main">
            <a:pPr algn="ctr">
              <a:defRPr sz="1200" b="0">
                <a:solidFill>
                  <a:srgbClr val="2C3E50"/>
                </a:solidFill>
              </a:defRPr>
            </a:pPr>
            <a:r>
              <a:rPr sz="1200" b="0">
                <a:solidFill>
                  <a:srgbClr val="2C3E50"/>
                </a:solidFill>
              </a:rPr>
              <a:t>confidence • x/y</a:t>
            </a:r>
          </a:p>
        </p:txBody>
      </p:sp>
      <p:sp>
        <p:nvSpPr>
          <p:cNvPr id="16" name="">
            <a:extLst xmlns:a="http://schemas.openxmlformats.org/drawingml/2006/main">
              <a:ext uri="{FF2B5EF4-FFF2-40B4-BE49-F238E27FC236}">
                <a16:creationId xmlns:a16="http://schemas.microsoft.com/office/drawing/2014/main" id="{6EF6928E-8DD5-432D-840A-70CC7B55C140}"/>
              </a:ext>
            </a:extLst>
          </p:cNvPr>
          <p:cNvSpPr>
            <a:spLocks xmlns:a="http://schemas.openxmlformats.org/drawingml/2006/main" noGrp="1"/>
          </p:cNvSpPr>
          <p:nvPr/>
        </p:nvSpPr>
        <p:spPr>
          <a:xfrm xmlns:a="http://schemas.openxmlformats.org/drawingml/2006/main">
            <a:off x="6019800" y="209550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800" b="1">
                <a:solidFill>
                  <a:srgbClr val="1E5D78"/>
                </a:solidFill>
              </a:defRPr>
            </a:defPPr>
          </a:lstStyle>
          <a:p xmlns:a="http://schemas.openxmlformats.org/drawingml/2006/main">
            <a:pPr algn="ctr">
              <a:defRPr sz="1800" b="1">
                <a:solidFill>
                  <a:srgbClr val="1E5D78"/>
                </a:solidFill>
              </a:defRPr>
            </a:pPr>
            <a:r>
              <a:rPr sz="1800" b="1">
                <a:solidFill>
                  <a:srgbClr val="1E5D78"/>
                </a:solidFill>
              </a:rPr>
              <a:t>→</a:t>
            </a:r>
          </a:p>
        </p:txBody>
      </p:sp>
      <p:sp>
        <p:nvSpPr>
          <p:cNvPr id="17" name="">
            <a:extLst xmlns:a="http://schemas.openxmlformats.org/drawingml/2006/main">
              <a:ext uri="{FF2B5EF4-FFF2-40B4-BE49-F238E27FC236}">
                <a16:creationId xmlns:a16="http://schemas.microsoft.com/office/drawing/2014/main" id="{54B88AE7-9D16-4AEC-B6A3-3A2EEA2B732F}"/>
              </a:ext>
            </a:extLst>
          </p:cNvPr>
          <p:cNvSpPr>
            <a:spLocks xmlns:a="http://schemas.openxmlformats.org/drawingml/2006/main" noGrp="1"/>
          </p:cNvSpPr>
          <p:nvPr/>
        </p:nvSpPr>
        <p:spPr>
          <a:xfrm xmlns:a="http://schemas.openxmlformats.org/drawingml/2006/main">
            <a:off x="63055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18" name="">
            <a:extLst xmlns:a="http://schemas.openxmlformats.org/drawingml/2006/main">
              <a:ext uri="{FF2B5EF4-FFF2-40B4-BE49-F238E27FC236}">
                <a16:creationId xmlns:a16="http://schemas.microsoft.com/office/drawing/2014/main" id="{D91E26F1-736B-438A-A802-A012A68ADE7E}"/>
              </a:ext>
            </a:extLst>
          </p:cNvPr>
          <p:cNvSpPr>
            <a:spLocks xmlns:a="http://schemas.openxmlformats.org/drawingml/2006/main" noGrp="1"/>
          </p:cNvSpPr>
          <p:nvPr/>
        </p:nvSpPr>
        <p:spPr>
          <a:xfrm xmlns:a="http://schemas.openxmlformats.org/drawingml/2006/main">
            <a:off x="64008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PYTHON RULES</a:t>
            </a:r>
          </a:p>
        </p:txBody>
      </p:sp>
      <p:sp>
        <p:nvSpPr>
          <p:cNvPr id="19" name="">
            <a:extLst xmlns:a="http://schemas.openxmlformats.org/drawingml/2006/main">
              <a:ext uri="{FF2B5EF4-FFF2-40B4-BE49-F238E27FC236}">
                <a16:creationId xmlns:a16="http://schemas.microsoft.com/office/drawing/2014/main" id="{A6EAD478-2DB6-4F78-8248-238365F99F78}"/>
              </a:ext>
            </a:extLst>
          </p:cNvPr>
          <p:cNvSpPr>
            <a:spLocks xmlns:a="http://schemas.openxmlformats.org/drawingml/2006/main" noGrp="1"/>
          </p:cNvSpPr>
          <p:nvPr/>
        </p:nvSpPr>
        <p:spPr>
          <a:xfrm xmlns:a="http://schemas.openxmlformats.org/drawingml/2006/main">
            <a:off x="64198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schema • allowlist</a:t>
            </a:r>
          </a:p>
          <a:p xmlns:a="http://schemas.openxmlformats.org/drawingml/2006/main">
            <a:pPr algn="ctr">
              <a:defRPr sz="1200" b="0">
                <a:solidFill>
                  <a:srgbClr val="2C3E50"/>
                </a:solidFill>
              </a:defRPr>
            </a:pPr>
            <a:r>
              <a:rPr sz="1200" b="0">
                <a:solidFill>
                  <a:srgbClr val="2C3E50"/>
                </a:solidFill>
              </a:rPr>
              <a:t>1-15 clamp • fallback</a:t>
            </a:r>
          </a:p>
        </p:txBody>
      </p:sp>
      <p:sp>
        <p:nvSpPr>
          <p:cNvPr id="20" name="">
            <a:extLst xmlns:a="http://schemas.openxmlformats.org/drawingml/2006/main">
              <a:ext uri="{FF2B5EF4-FFF2-40B4-BE49-F238E27FC236}">
                <a16:creationId xmlns:a16="http://schemas.microsoft.com/office/drawing/2014/main" id="{924ECDC3-369E-4C9E-B78E-51987D3F7D2F}"/>
              </a:ext>
            </a:extLst>
          </p:cNvPr>
          <p:cNvSpPr>
            <a:spLocks xmlns:a="http://schemas.openxmlformats.org/drawingml/2006/main" noGrp="1"/>
          </p:cNvSpPr>
          <p:nvPr/>
        </p:nvSpPr>
        <p:spPr>
          <a:xfrm xmlns:a="http://schemas.openxmlformats.org/drawingml/2006/main">
            <a:off x="7962900" y="209550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800" b="1">
                <a:solidFill>
                  <a:srgbClr val="1E5D78"/>
                </a:solidFill>
              </a:defRPr>
            </a:defPPr>
          </a:lstStyle>
          <a:p xmlns:a="http://schemas.openxmlformats.org/drawingml/2006/main">
            <a:pPr algn="ctr">
              <a:defRPr sz="1800" b="1">
                <a:solidFill>
                  <a:srgbClr val="1E5D78"/>
                </a:solidFill>
              </a:defRPr>
            </a:pPr>
            <a:r>
              <a:rPr sz="1800" b="1">
                <a:solidFill>
                  <a:srgbClr val="1E5D78"/>
                </a:solidFill>
              </a:rPr>
              <a:t>→</a:t>
            </a:r>
          </a:p>
        </p:txBody>
      </p:sp>
      <p:sp>
        <p:nvSpPr>
          <p:cNvPr id="21" name="">
            <a:extLst xmlns:a="http://schemas.openxmlformats.org/drawingml/2006/main">
              <a:ext uri="{FF2B5EF4-FFF2-40B4-BE49-F238E27FC236}">
                <a16:creationId xmlns:a16="http://schemas.microsoft.com/office/drawing/2014/main" id="{F28DFD8D-CD9E-40DB-A4C6-E172B9D550B2}"/>
              </a:ext>
            </a:extLst>
          </p:cNvPr>
          <p:cNvSpPr>
            <a:spLocks xmlns:a="http://schemas.openxmlformats.org/drawingml/2006/main" noGrp="1"/>
          </p:cNvSpPr>
          <p:nvPr/>
        </p:nvSpPr>
        <p:spPr>
          <a:xfrm xmlns:a="http://schemas.openxmlformats.org/drawingml/2006/main">
            <a:off x="82486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22" name="">
            <a:extLst xmlns:a="http://schemas.openxmlformats.org/drawingml/2006/main">
              <a:ext uri="{FF2B5EF4-FFF2-40B4-BE49-F238E27FC236}">
                <a16:creationId xmlns:a16="http://schemas.microsoft.com/office/drawing/2014/main" id="{35B13DF6-A7EC-4BA3-B0D8-CF90E73EA4BF}"/>
              </a:ext>
            </a:extLst>
          </p:cNvPr>
          <p:cNvSpPr>
            <a:spLocks xmlns:a="http://schemas.openxmlformats.org/drawingml/2006/main" noGrp="1"/>
          </p:cNvSpPr>
          <p:nvPr/>
        </p:nvSpPr>
        <p:spPr>
          <a:xfrm xmlns:a="http://schemas.openxmlformats.org/drawingml/2006/main">
            <a:off x="83439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HUMAN CHECK</a:t>
            </a:r>
          </a:p>
        </p:txBody>
      </p:sp>
      <p:sp>
        <p:nvSpPr>
          <p:cNvPr id="23" name="">
            <a:extLst xmlns:a="http://schemas.openxmlformats.org/drawingml/2006/main">
              <a:ext uri="{FF2B5EF4-FFF2-40B4-BE49-F238E27FC236}">
                <a16:creationId xmlns:a16="http://schemas.microsoft.com/office/drawing/2014/main" id="{229B8B21-0F9F-4E8B-AB42-B5BA615DC544}"/>
              </a:ext>
            </a:extLst>
          </p:cNvPr>
          <p:cNvSpPr>
            <a:spLocks xmlns:a="http://schemas.openxmlformats.org/drawingml/2006/main" noGrp="1"/>
          </p:cNvSpPr>
          <p:nvPr/>
        </p:nvSpPr>
        <p:spPr>
          <a:xfrm xmlns:a="http://schemas.openxmlformats.org/drawingml/2006/main">
            <a:off x="83629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simple questions</a:t>
            </a:r>
          </a:p>
          <a:p xmlns:a="http://schemas.openxmlformats.org/drawingml/2006/main">
            <a:pPr algn="ctr">
              <a:defRPr sz="1200" b="0">
                <a:solidFill>
                  <a:srgbClr val="2C3E50"/>
                </a:solidFill>
              </a:defRPr>
            </a:pPr>
            <a:r>
              <a:rPr sz="1200" b="0">
                <a:solidFill>
                  <a:srgbClr val="2C3E50"/>
                </a:solidFill>
              </a:rPr>
              <a:t>for uncertain facts</a:t>
            </a:r>
          </a:p>
        </p:txBody>
      </p:sp>
      <p:sp>
        <p:nvSpPr>
          <p:cNvPr id="24" name="">
            <a:extLst xmlns:a="http://schemas.openxmlformats.org/drawingml/2006/main">
              <a:ext uri="{FF2B5EF4-FFF2-40B4-BE49-F238E27FC236}">
                <a16:creationId xmlns:a16="http://schemas.microsoft.com/office/drawing/2014/main" id="{B0866DF9-7908-4EA1-B145-DB1AA9D18010}"/>
              </a:ext>
            </a:extLst>
          </p:cNvPr>
          <p:cNvSpPr>
            <a:spLocks xmlns:a="http://schemas.openxmlformats.org/drawingml/2006/main" noGrp="1"/>
          </p:cNvSpPr>
          <p:nvPr/>
        </p:nvSpPr>
        <p:spPr>
          <a:xfrm xmlns:a="http://schemas.openxmlformats.org/drawingml/2006/main">
            <a:off x="9906000" y="209550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800" b="1">
                <a:solidFill>
                  <a:srgbClr val="1E5D78"/>
                </a:solidFill>
              </a:defRPr>
            </a:defPPr>
          </a:lstStyle>
          <a:p xmlns:a="http://schemas.openxmlformats.org/drawingml/2006/main">
            <a:pPr algn="ctr">
              <a:defRPr sz="1800" b="1">
                <a:solidFill>
                  <a:srgbClr val="1E5D78"/>
                </a:solidFill>
              </a:defRPr>
            </a:pPr>
            <a:r>
              <a:rPr sz="1800" b="1">
                <a:solidFill>
                  <a:srgbClr val="1E5D78"/>
                </a:solidFill>
              </a:rPr>
              <a:t>→</a:t>
            </a:r>
          </a:p>
        </p:txBody>
      </p:sp>
      <p:sp>
        <p:nvSpPr>
          <p:cNvPr id="25" name="">
            <a:extLst xmlns:a="http://schemas.openxmlformats.org/drawingml/2006/main">
              <a:ext uri="{FF2B5EF4-FFF2-40B4-BE49-F238E27FC236}">
                <a16:creationId xmlns:a16="http://schemas.microsoft.com/office/drawing/2014/main" id="{B66636A8-109C-4D3A-9EBC-B490FB3899EC}"/>
              </a:ext>
            </a:extLst>
          </p:cNvPr>
          <p:cNvSpPr>
            <a:spLocks xmlns:a="http://schemas.openxmlformats.org/drawingml/2006/main" noGrp="1"/>
          </p:cNvSpPr>
          <p:nvPr/>
        </p:nvSpPr>
        <p:spPr>
          <a:xfrm xmlns:a="http://schemas.openxmlformats.org/drawingml/2006/main">
            <a:off x="10191750" y="1695450"/>
            <a:ext cx="1657350" cy="1181100"/>
          </a:xfrm>
          <a:prstGeom xmlns:a="http://schemas.openxmlformats.org/drawingml/2006/main" prst="roundRect">
            <a:avLst>
              <a:gd name="adj" fmla="val 6452"/>
            </a:avLst>
          </a:prstGeom>
          <a:solidFill xmlns:a="http://schemas.openxmlformats.org/drawingml/2006/main">
            <a:srgbClr val="FFFDFC"/>
          </a:solidFill>
          <a:ln xmlns:a="http://schemas.openxmlformats.org/drawingml/2006/main" w="9525">
            <a:solidFill>
              <a:srgbClr val="D8D3CA"/>
            </a:solidFill>
            <a:prstDash val="solid"/>
          </a:ln>
        </p:spPr>
      </p:sp>
      <p:sp>
        <p:nvSpPr>
          <p:cNvPr id="26" name="">
            <a:extLst xmlns:a="http://schemas.openxmlformats.org/drawingml/2006/main">
              <a:ext uri="{FF2B5EF4-FFF2-40B4-BE49-F238E27FC236}">
                <a16:creationId xmlns:a16="http://schemas.microsoft.com/office/drawing/2014/main" id="{E54C5FD3-69AD-4C59-AB94-8666A1CD7B84}"/>
              </a:ext>
            </a:extLst>
          </p:cNvPr>
          <p:cNvSpPr>
            <a:spLocks xmlns:a="http://schemas.openxmlformats.org/drawingml/2006/main" noGrp="1"/>
          </p:cNvSpPr>
          <p:nvPr/>
        </p:nvSpPr>
        <p:spPr>
          <a:xfrm xmlns:a="http://schemas.openxmlformats.org/drawingml/2006/main">
            <a:off x="10287000" y="1828800"/>
            <a:ext cx="146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125" b="1">
                <a:solidFill>
                  <a:srgbClr val="1E5D78"/>
                </a:solidFill>
              </a:defRPr>
            </a:defPPr>
          </a:lstStyle>
          <a:p xmlns:a="http://schemas.openxmlformats.org/drawingml/2006/main">
            <a:pPr algn="ctr">
              <a:defRPr sz="1125" b="1">
                <a:solidFill>
                  <a:srgbClr val="1E5D78"/>
                </a:solidFill>
              </a:defRPr>
            </a:pPr>
            <a:r>
              <a:rPr sz="1125" b="1">
                <a:solidFill>
                  <a:srgbClr val="1E5D78"/>
                </a:solidFill>
              </a:rPr>
              <a:t>RESULT</a:t>
            </a:r>
          </a:p>
        </p:txBody>
      </p:sp>
      <p:sp>
        <p:nvSpPr>
          <p:cNvPr id="27" name="">
            <a:extLst xmlns:a="http://schemas.openxmlformats.org/drawingml/2006/main">
              <a:ext uri="{FF2B5EF4-FFF2-40B4-BE49-F238E27FC236}">
                <a16:creationId xmlns:a16="http://schemas.microsoft.com/office/drawing/2014/main" id="{77148A39-EA96-4B87-8ABA-18A87E4AB0F6}"/>
              </a:ext>
            </a:extLst>
          </p:cNvPr>
          <p:cNvSpPr>
            <a:spLocks xmlns:a="http://schemas.openxmlformats.org/drawingml/2006/main" noGrp="1"/>
          </p:cNvSpPr>
          <p:nvPr/>
        </p:nvSpPr>
        <p:spPr>
          <a:xfrm xmlns:a="http://schemas.openxmlformats.org/drawingml/2006/main">
            <a:off x="10306050" y="215265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score • risk bar</a:t>
            </a:r>
          </a:p>
          <a:p xmlns:a="http://schemas.openxmlformats.org/drawingml/2006/main">
            <a:pPr algn="ctr">
              <a:defRPr sz="1200" b="0">
                <a:solidFill>
                  <a:srgbClr val="2C3E50"/>
                </a:solidFill>
              </a:defRPr>
            </a:pPr>
            <a:r>
              <a:rPr sz="1200" b="0">
                <a:solidFill>
                  <a:srgbClr val="2C3E50"/>
                </a:solidFill>
              </a:rPr>
              <a:t>three-step plan</a:t>
            </a:r>
          </a:p>
        </p:txBody>
      </p:sp>
      <p:sp>
        <p:nvSpPr>
          <p:cNvPr id="28" name="">
            <a:extLst xmlns:a="http://schemas.openxmlformats.org/drawingml/2006/main">
              <a:ext uri="{FF2B5EF4-FFF2-40B4-BE49-F238E27FC236}">
                <a16:creationId xmlns:a16="http://schemas.microsoft.com/office/drawing/2014/main" id="{6E8BA223-97B2-4B9C-A52E-628716684910}"/>
              </a:ext>
            </a:extLst>
          </p:cNvPr>
          <p:cNvSpPr>
            <a:spLocks xmlns:a="http://schemas.openxmlformats.org/drawingml/2006/main" noGrp="1"/>
          </p:cNvSpPr>
          <p:nvPr/>
        </p:nvSpPr>
        <p:spPr>
          <a:xfrm xmlns:a="http://schemas.openxmlformats.org/drawingml/2006/main">
            <a:off x="628650" y="3105150"/>
            <a:ext cx="1093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203247"/>
                </a:solidFill>
              </a:defRPr>
            </a:defPPr>
          </a:lstStyle>
          <a:p xmlns:a="http://schemas.openxmlformats.org/drawingml/2006/main">
            <a:pPr algn="ctr">
              <a:defRPr sz="1350" b="1">
                <a:solidFill>
                  <a:srgbClr val="203247"/>
                </a:solidFill>
              </a:defRPr>
            </a:pPr>
            <a:r>
              <a:rPr sz="1350" b="1">
                <a:solidFill>
                  <a:srgbClr val="203247"/>
                </a:solidFill>
              </a:rPr>
              <a:t>Validated result branches only when the user chooses to save or share.</a:t>
            </a:r>
          </a:p>
        </p:txBody>
      </p:sp>
      <p:sp>
        <p:nvSpPr>
          <p:cNvPr id="29" name="">
            <a:extLst xmlns:a="http://schemas.openxmlformats.org/drawingml/2006/main">
              <a:ext uri="{FF2B5EF4-FFF2-40B4-BE49-F238E27FC236}">
                <a16:creationId xmlns:a16="http://schemas.microsoft.com/office/drawing/2014/main" id="{E29F91F5-8996-4AB5-9B6E-908F82DA5D33}"/>
              </a:ext>
            </a:extLst>
          </p:cNvPr>
          <p:cNvSpPr>
            <a:spLocks xmlns:a="http://schemas.openxmlformats.org/drawingml/2006/main" noGrp="1"/>
          </p:cNvSpPr>
          <p:nvPr/>
        </p:nvSpPr>
        <p:spPr>
          <a:xfrm xmlns:a="http://schemas.openxmlformats.org/drawingml/2006/main">
            <a:off x="2628900" y="3390900"/>
            <a:ext cx="19050" cy="361950"/>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E21D272-DA85-4781-A518-C6FC114B5227}"/>
              </a:ext>
            </a:extLst>
          </p:cNvPr>
          <p:cNvSpPr>
            <a:spLocks xmlns:a="http://schemas.openxmlformats.org/drawingml/2006/main" noGrp="1"/>
          </p:cNvSpPr>
          <p:nvPr/>
        </p:nvSpPr>
        <p:spPr>
          <a:xfrm xmlns:a="http://schemas.openxmlformats.org/drawingml/2006/main">
            <a:off x="2533650" y="3657600"/>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31" name="">
            <a:extLst xmlns:a="http://schemas.openxmlformats.org/drawingml/2006/main">
              <a:ext uri="{FF2B5EF4-FFF2-40B4-BE49-F238E27FC236}">
                <a16:creationId xmlns:a16="http://schemas.microsoft.com/office/drawing/2014/main" id="{117D0D9A-9352-4B98-8A19-582150CB91A4}"/>
              </a:ext>
            </a:extLst>
          </p:cNvPr>
          <p:cNvSpPr>
            <a:spLocks xmlns:a="http://schemas.openxmlformats.org/drawingml/2006/main" noGrp="1"/>
          </p:cNvSpPr>
          <p:nvPr/>
        </p:nvSpPr>
        <p:spPr>
          <a:xfrm xmlns:a="http://schemas.openxmlformats.org/drawingml/2006/main">
            <a:off x="6096000" y="3390900"/>
            <a:ext cx="19050" cy="361950"/>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F5E741F0-A7B4-47E7-AF49-BD5070197018}"/>
              </a:ext>
            </a:extLst>
          </p:cNvPr>
          <p:cNvSpPr>
            <a:spLocks xmlns:a="http://schemas.openxmlformats.org/drawingml/2006/main" noGrp="1"/>
          </p:cNvSpPr>
          <p:nvPr/>
        </p:nvSpPr>
        <p:spPr>
          <a:xfrm xmlns:a="http://schemas.openxmlformats.org/drawingml/2006/main">
            <a:off x="6000750" y="3657600"/>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33" name="">
            <a:extLst xmlns:a="http://schemas.openxmlformats.org/drawingml/2006/main">
              <a:ext uri="{FF2B5EF4-FFF2-40B4-BE49-F238E27FC236}">
                <a16:creationId xmlns:a16="http://schemas.microsoft.com/office/drawing/2014/main" id="{3199C0F4-FD7B-4BA3-80CE-A43A65D6D0EB}"/>
              </a:ext>
            </a:extLst>
          </p:cNvPr>
          <p:cNvSpPr>
            <a:spLocks xmlns:a="http://schemas.openxmlformats.org/drawingml/2006/main" noGrp="1"/>
          </p:cNvSpPr>
          <p:nvPr/>
        </p:nvSpPr>
        <p:spPr>
          <a:xfrm xmlns:a="http://schemas.openxmlformats.org/drawingml/2006/main">
            <a:off x="9563100" y="3390900"/>
            <a:ext cx="19050" cy="361950"/>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DB5C28D-7C67-43FD-844C-8EB721AA948F}"/>
              </a:ext>
            </a:extLst>
          </p:cNvPr>
          <p:cNvSpPr>
            <a:spLocks xmlns:a="http://schemas.openxmlformats.org/drawingml/2006/main" noGrp="1"/>
          </p:cNvSpPr>
          <p:nvPr/>
        </p:nvSpPr>
        <p:spPr>
          <a:xfrm xmlns:a="http://schemas.openxmlformats.org/drawingml/2006/main">
            <a:off x="9467850" y="3657600"/>
            <a:ext cx="209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750" b="1">
                <a:solidFill>
                  <a:srgbClr val="1E5D78"/>
                </a:solidFill>
              </a:defRPr>
            </a:defPPr>
          </a:lstStyle>
          <a:p xmlns:a="http://schemas.openxmlformats.org/drawingml/2006/main">
            <a:pPr algn="ctr">
              <a:defRPr sz="750" b="1">
                <a:solidFill>
                  <a:srgbClr val="1E5D78"/>
                </a:solidFill>
              </a:defRPr>
            </a:pPr>
            <a:r>
              <a:rPr sz="750" b="1">
                <a:solidFill>
                  <a:srgbClr val="1E5D78"/>
                </a:solidFill>
              </a:rPr>
              <a:t>▼</a:t>
            </a:r>
          </a:p>
        </p:txBody>
      </p:sp>
      <p:sp>
        <p:nvSpPr>
          <p:cNvPr id="35" name="">
            <a:extLst xmlns:a="http://schemas.openxmlformats.org/drawingml/2006/main">
              <a:ext uri="{FF2B5EF4-FFF2-40B4-BE49-F238E27FC236}">
                <a16:creationId xmlns:a16="http://schemas.microsoft.com/office/drawing/2014/main" id="{EF460BE7-F7D5-4723-B30E-49CB1339F3E1}"/>
              </a:ext>
            </a:extLst>
          </p:cNvPr>
          <p:cNvSpPr>
            <a:spLocks xmlns:a="http://schemas.openxmlformats.org/drawingml/2006/main" noGrp="1"/>
          </p:cNvSpPr>
          <p:nvPr/>
        </p:nvSpPr>
        <p:spPr>
          <a:xfrm xmlns:a="http://schemas.openxmlformats.org/drawingml/2006/main">
            <a:off x="1200150" y="3867150"/>
            <a:ext cx="2857500" cy="1352550"/>
          </a:xfrm>
          <a:prstGeom xmlns:a="http://schemas.openxmlformats.org/drawingml/2006/main" prst="roundRect">
            <a:avLst>
              <a:gd name="adj" fmla="val 5634"/>
            </a:avLst>
          </a:prstGeom>
          <a:solidFill xmlns:a="http://schemas.openxmlformats.org/drawingml/2006/main">
            <a:srgbClr val="E3EEF1"/>
          </a:solidFill>
          <a:ln xmlns:a="http://schemas.openxmlformats.org/drawingml/2006/main" w="9525">
            <a:solidFill>
              <a:srgbClr val="1E5D78"/>
            </a:solidFill>
            <a:prstDash val="solid"/>
          </a:ln>
        </p:spPr>
      </p:sp>
      <p:sp>
        <p:nvSpPr>
          <p:cNvPr id="36" name="">
            <a:extLst xmlns:a="http://schemas.openxmlformats.org/drawingml/2006/main">
              <a:ext uri="{FF2B5EF4-FFF2-40B4-BE49-F238E27FC236}">
                <a16:creationId xmlns:a16="http://schemas.microsoft.com/office/drawing/2014/main" id="{D3352867-CDB1-4164-B1FA-E25660E38993}"/>
              </a:ext>
            </a:extLst>
          </p:cNvPr>
          <p:cNvSpPr>
            <a:spLocks xmlns:a="http://schemas.openxmlformats.org/drawingml/2006/main" noGrp="1"/>
          </p:cNvSpPr>
          <p:nvPr/>
        </p:nvSpPr>
        <p:spPr>
          <a:xfrm xmlns:a="http://schemas.openxmlformats.org/drawingml/2006/main">
            <a:off x="1390650" y="40195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SUPABASE</a:t>
            </a:r>
          </a:p>
        </p:txBody>
      </p:sp>
      <p:sp>
        <p:nvSpPr>
          <p:cNvPr id="37" name="">
            <a:extLst xmlns:a="http://schemas.openxmlformats.org/drawingml/2006/main">
              <a:ext uri="{FF2B5EF4-FFF2-40B4-BE49-F238E27FC236}">
                <a16:creationId xmlns:a16="http://schemas.microsoft.com/office/drawing/2014/main" id="{BB779522-4D8B-4973-9B60-E8CD05BB191C}"/>
              </a:ext>
            </a:extLst>
          </p:cNvPr>
          <p:cNvSpPr>
            <a:spLocks xmlns:a="http://schemas.openxmlformats.org/drawingml/2006/main" noGrp="1"/>
          </p:cNvSpPr>
          <p:nvPr/>
        </p:nvSpPr>
        <p:spPr>
          <a:xfrm xmlns:a="http://schemas.openxmlformats.org/drawingml/2006/main">
            <a:off x="1390650" y="4343400"/>
            <a:ext cx="247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account email + password hash</a:t>
            </a:r>
          </a:p>
          <a:p xmlns:a="http://schemas.openxmlformats.org/drawingml/2006/main">
            <a:pPr algn="ctr">
              <a:defRPr sz="1200" b="0">
                <a:solidFill>
                  <a:srgbClr val="2C3E50"/>
                </a:solidFill>
              </a:defRPr>
            </a:pPr>
            <a:r>
              <a:rPr sz="1200" b="0">
                <a:solidFill>
                  <a:srgbClr val="2C3E50"/>
                </a:solidFill>
              </a:rPr>
              <a:t>Room Names</a:t>
            </a:r>
          </a:p>
          <a:p xmlns:a="http://schemas.openxmlformats.org/drawingml/2006/main">
            <a:pPr algn="ctr">
              <a:defRPr sz="1200" b="0">
                <a:solidFill>
                  <a:srgbClr val="2C3E50"/>
                </a:solidFill>
              </a:defRPr>
            </a:pPr>
            <a:r>
              <a:rPr sz="1200" b="0">
                <a:solidFill>
                  <a:srgbClr val="2C3E50"/>
                </a:solidFill>
              </a:rPr>
              <a:t>structured check history</a:t>
            </a:r>
          </a:p>
        </p:txBody>
      </p:sp>
      <p:sp>
        <p:nvSpPr>
          <p:cNvPr id="38" name="">
            <a:extLst xmlns:a="http://schemas.openxmlformats.org/drawingml/2006/main">
              <a:ext uri="{FF2B5EF4-FFF2-40B4-BE49-F238E27FC236}">
                <a16:creationId xmlns:a16="http://schemas.microsoft.com/office/drawing/2014/main" id="{00167E8B-5C0B-4923-AEC1-3B55202C4FBD}"/>
              </a:ext>
            </a:extLst>
          </p:cNvPr>
          <p:cNvSpPr>
            <a:spLocks xmlns:a="http://schemas.openxmlformats.org/drawingml/2006/main" noGrp="1"/>
          </p:cNvSpPr>
          <p:nvPr/>
        </p:nvSpPr>
        <p:spPr>
          <a:xfrm xmlns:a="http://schemas.openxmlformats.org/drawingml/2006/main">
            <a:off x="4667250" y="3867150"/>
            <a:ext cx="2857500" cy="1352550"/>
          </a:xfrm>
          <a:prstGeom xmlns:a="http://schemas.openxmlformats.org/drawingml/2006/main" prst="roundRect">
            <a:avLst>
              <a:gd name="adj" fmla="val 5634"/>
            </a:avLst>
          </a:prstGeom>
          <a:solidFill xmlns:a="http://schemas.openxmlformats.org/drawingml/2006/main">
            <a:srgbClr val="E3EEF1"/>
          </a:solidFill>
          <a:ln xmlns:a="http://schemas.openxmlformats.org/drawingml/2006/main" w="9525">
            <a:solidFill>
              <a:srgbClr val="1E5D78"/>
            </a:solidFill>
            <a:prstDash val="solid"/>
          </a:ln>
        </p:spPr>
      </p:sp>
      <p:sp>
        <p:nvSpPr>
          <p:cNvPr id="39" name="">
            <a:extLst xmlns:a="http://schemas.openxmlformats.org/drawingml/2006/main">
              <a:ext uri="{FF2B5EF4-FFF2-40B4-BE49-F238E27FC236}">
                <a16:creationId xmlns:a16="http://schemas.microsoft.com/office/drawing/2014/main" id="{D38CAB3D-F972-46F4-ADF5-B7B2DF32616C}"/>
              </a:ext>
            </a:extLst>
          </p:cNvPr>
          <p:cNvSpPr>
            <a:spLocks xmlns:a="http://schemas.openxmlformats.org/drawingml/2006/main" noGrp="1"/>
          </p:cNvSpPr>
          <p:nvPr/>
        </p:nvSpPr>
        <p:spPr>
          <a:xfrm xmlns:a="http://schemas.openxmlformats.org/drawingml/2006/main">
            <a:off x="4857750" y="40195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BREVO EMAIL API</a:t>
            </a:r>
          </a:p>
        </p:txBody>
      </p:sp>
      <p:sp>
        <p:nvSpPr>
          <p:cNvPr id="40" name="">
            <a:extLst xmlns:a="http://schemas.openxmlformats.org/drawingml/2006/main">
              <a:ext uri="{FF2B5EF4-FFF2-40B4-BE49-F238E27FC236}">
                <a16:creationId xmlns:a16="http://schemas.microsoft.com/office/drawing/2014/main" id="{2DD060E2-B24D-4595-9F82-3258A9ED2892}"/>
              </a:ext>
            </a:extLst>
          </p:cNvPr>
          <p:cNvSpPr>
            <a:spLocks xmlns:a="http://schemas.openxmlformats.org/drawingml/2006/main" noGrp="1"/>
          </p:cNvSpPr>
          <p:nvPr/>
        </p:nvSpPr>
        <p:spPr>
          <a:xfrm xmlns:a="http://schemas.openxmlformats.org/drawingml/2006/main">
            <a:off x="4857750" y="4343400"/>
            <a:ext cx="247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sends password reset codes</a:t>
            </a:r>
          </a:p>
          <a:p xmlns:a="http://schemas.openxmlformats.org/drawingml/2006/main">
            <a:pPr algn="ctr">
              <a:defRPr sz="1200" b="0">
                <a:solidFill>
                  <a:srgbClr val="2C3E50"/>
                </a:solidFill>
              </a:defRPr>
            </a:pPr>
            <a:r>
              <a:rPr sz="1200" b="0">
                <a:solidFill>
                  <a:srgbClr val="2C3E50"/>
                </a:solidFill>
              </a:rPr>
              <a:t>and text-only safety summaries</a:t>
            </a:r>
          </a:p>
          <a:p xmlns:a="http://schemas.openxmlformats.org/drawingml/2006/main">
            <a:pPr algn="ctr">
              <a:defRPr sz="1200" b="0">
                <a:solidFill>
                  <a:srgbClr val="2C3E50"/>
                </a:solidFill>
              </a:defRPr>
            </a:pPr>
            <a:r>
              <a:rPr sz="1200" b="0">
                <a:solidFill>
                  <a:srgbClr val="2C3E50"/>
                </a:solidFill>
              </a:rPr>
              <a:t>to as many as five recipients</a:t>
            </a:r>
          </a:p>
        </p:txBody>
      </p:sp>
      <p:sp>
        <p:nvSpPr>
          <p:cNvPr id="41" name="">
            <a:extLst xmlns:a="http://schemas.openxmlformats.org/drawingml/2006/main">
              <a:ext uri="{FF2B5EF4-FFF2-40B4-BE49-F238E27FC236}">
                <a16:creationId xmlns:a16="http://schemas.microsoft.com/office/drawing/2014/main" id="{48C7E22C-648E-46B4-B672-734997969A1C}"/>
              </a:ext>
            </a:extLst>
          </p:cNvPr>
          <p:cNvSpPr>
            <a:spLocks xmlns:a="http://schemas.openxmlformats.org/drawingml/2006/main" noGrp="1"/>
          </p:cNvSpPr>
          <p:nvPr/>
        </p:nvSpPr>
        <p:spPr>
          <a:xfrm xmlns:a="http://schemas.openxmlformats.org/drawingml/2006/main">
            <a:off x="8134350" y="3867150"/>
            <a:ext cx="2857500" cy="1352550"/>
          </a:xfrm>
          <a:prstGeom xmlns:a="http://schemas.openxmlformats.org/drawingml/2006/main" prst="roundRect">
            <a:avLst>
              <a:gd name="adj" fmla="val 5634"/>
            </a:avLst>
          </a:prstGeom>
          <a:solidFill xmlns:a="http://schemas.openxmlformats.org/drawingml/2006/main">
            <a:srgbClr val="E3EEF1"/>
          </a:solidFill>
          <a:ln xmlns:a="http://schemas.openxmlformats.org/drawingml/2006/main" w="9525">
            <a:solidFill>
              <a:srgbClr val="1E5D78"/>
            </a:solidFill>
            <a:prstDash val="solid"/>
          </a:ln>
        </p:spPr>
      </p:sp>
      <p:sp>
        <p:nvSpPr>
          <p:cNvPr id="42" name="">
            <a:extLst xmlns:a="http://schemas.openxmlformats.org/drawingml/2006/main">
              <a:ext uri="{FF2B5EF4-FFF2-40B4-BE49-F238E27FC236}">
                <a16:creationId xmlns:a16="http://schemas.microsoft.com/office/drawing/2014/main" id="{BE73C623-AEFE-47D6-BDD3-776AEBE7AB8E}"/>
              </a:ext>
            </a:extLst>
          </p:cNvPr>
          <p:cNvSpPr>
            <a:spLocks xmlns:a="http://schemas.openxmlformats.org/drawingml/2006/main" noGrp="1"/>
          </p:cNvSpPr>
          <p:nvPr/>
        </p:nvSpPr>
        <p:spPr>
          <a:xfrm xmlns:a="http://schemas.openxmlformats.org/drawingml/2006/main">
            <a:off x="8324850" y="40195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1E5D78"/>
                </a:solidFill>
              </a:defRPr>
            </a:defPPr>
          </a:lstStyle>
          <a:p xmlns:a="http://schemas.openxmlformats.org/drawingml/2006/main">
            <a:pPr algn="ctr">
              <a:defRPr sz="1350" b="1">
                <a:solidFill>
                  <a:srgbClr val="1E5D78"/>
                </a:solidFill>
              </a:defRPr>
            </a:pPr>
            <a:r>
              <a:rPr sz="1350" b="1">
                <a:solidFill>
                  <a:srgbClr val="1E5D78"/>
                </a:solidFill>
              </a:rPr>
              <a:t>ACTIVE SESSION</a:t>
            </a:r>
          </a:p>
        </p:txBody>
      </p:sp>
      <p:sp>
        <p:nvSpPr>
          <p:cNvPr id="43" name="">
            <a:extLst xmlns:a="http://schemas.openxmlformats.org/drawingml/2006/main">
              <a:ext uri="{FF2B5EF4-FFF2-40B4-BE49-F238E27FC236}">
                <a16:creationId xmlns:a16="http://schemas.microsoft.com/office/drawing/2014/main" id="{6465AC89-7F8A-4FB7-91E3-B5C431B2F5E7}"/>
              </a:ext>
            </a:extLst>
          </p:cNvPr>
          <p:cNvSpPr>
            <a:spLocks xmlns:a="http://schemas.openxmlformats.org/drawingml/2006/main" noGrp="1"/>
          </p:cNvSpPr>
          <p:nvPr/>
        </p:nvSpPr>
        <p:spPr>
          <a:xfrm xmlns:a="http://schemas.openxmlformats.org/drawingml/2006/main">
            <a:off x="8324850" y="4343400"/>
            <a:ext cx="247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0">
                <a:solidFill>
                  <a:srgbClr val="2C3E50"/>
                </a:solidFill>
              </a:defRPr>
            </a:defPPr>
          </a:lstStyle>
          <a:p xmlns:a="http://schemas.openxmlformats.org/drawingml/2006/main">
            <a:pPr algn="ctr">
              <a:defRPr sz="1200" b="0">
                <a:solidFill>
                  <a:srgbClr val="2C3E50"/>
                </a:solidFill>
              </a:defRPr>
            </a:pPr>
            <a:r>
              <a:rPr sz="1200" b="0">
                <a:solidFill>
                  <a:srgbClr val="2C3E50"/>
                </a:solidFill>
              </a:rPr>
              <a:t>current photo + analysis state</a:t>
            </a:r>
          </a:p>
          <a:p xmlns:a="http://schemas.openxmlformats.org/drawingml/2006/main">
            <a:pPr algn="ctr">
              <a:defRPr sz="1200" b="0">
                <a:solidFill>
                  <a:srgbClr val="2C3E50"/>
                </a:solidFill>
              </a:defRPr>
            </a:pPr>
            <a:r>
              <a:rPr sz="1200" b="0">
                <a:solidFill>
                  <a:srgbClr val="2C3E50"/>
                </a:solidFill>
              </a:rPr>
              <a:t>connect pages during the check</a:t>
            </a:r>
          </a:p>
          <a:p xmlns:a="http://schemas.openxmlformats.org/drawingml/2006/main">
            <a:pPr algn="ctr">
              <a:defRPr sz="1200" b="0">
                <a:solidFill>
                  <a:srgbClr val="2C3E50"/>
                </a:solidFill>
              </a:defRPr>
            </a:pPr>
            <a:r>
              <a:rPr sz="1200" b="0">
                <a:solidFill>
                  <a:srgbClr val="2C3E50"/>
                </a:solidFill>
              </a:rPr>
              <a:t>photo is not saved</a:t>
            </a:r>
          </a:p>
        </p:txBody>
      </p:sp>
      <p:sp>
        <p:nvSpPr>
          <p:cNvPr id="44" name="">
            <a:extLst xmlns:a="http://schemas.openxmlformats.org/drawingml/2006/main">
              <a:ext uri="{FF2B5EF4-FFF2-40B4-BE49-F238E27FC236}">
                <a16:creationId xmlns:a16="http://schemas.microsoft.com/office/drawing/2014/main" id="{B2244001-CF4A-4FB5-AB5C-9C4284B7EBDA}"/>
              </a:ext>
            </a:extLst>
          </p:cNvPr>
          <p:cNvSpPr>
            <a:spLocks xmlns:a="http://schemas.openxmlformats.org/drawingml/2006/main" noGrp="1"/>
          </p:cNvSpPr>
          <p:nvPr/>
        </p:nvSpPr>
        <p:spPr>
          <a:xfrm xmlns:a="http://schemas.openxmlformats.org/drawingml/2006/main">
            <a:off x="628650" y="5486400"/>
            <a:ext cx="10934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00" b="1">
                <a:solidFill>
                  <a:srgbClr val="203247"/>
                </a:solidFill>
              </a:defRPr>
            </a:defPPr>
          </a:lstStyle>
          <a:p xmlns:a="http://schemas.openxmlformats.org/drawingml/2006/main">
            <a:pPr algn="ctr">
              <a:defRPr sz="1200" b="1">
                <a:solidFill>
                  <a:srgbClr val="203247"/>
                </a:solidFill>
              </a:defRPr>
            </a:pPr>
            <a:r>
              <a:rPr sz="1200" b="1">
                <a:solidFill>
                  <a:srgbClr val="203247"/>
                </a:solidFill>
              </a:rPr>
              <a:t>Failure handling  •  invalid AI values use tested defaults  •  database and email errors become readable messages  •  final score never exceeds 100</a:t>
            </a:r>
          </a:p>
        </p:txBody>
      </p:sp>
    </p:spTree>
    <p:extLst>
      <p:ext uri="{BB962C8B-B14F-4D97-AF65-F5344CB8AC3E}">
        <p14:creationId xmlns:p14="http://schemas.microsoft.com/office/powerpoint/2010/main" val="863958787"/>
      </p:ext>
    </p:extLst>
  </p:cSld>
</p:sld>
</file>

<file path=ppt/slides/slide4.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DC443AF-D268-477E-9127-CEBDD51A6CD9}"/>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D4B84D-91A5-4E62-9A9D-4F3B80FC1E4D}"/>
              </a:ext>
            </a:extLst>
          </p:cNvPr>
          <p:cNvSpPr>
            <a:spLocks xmlns:a="http://schemas.openxmlformats.org/drawingml/2006/main" noGrp="1"/>
          </p:cNvSpPr>
          <p:nvPr/>
        </p:nvSpPr>
        <p:spPr>
          <a:xfrm xmlns:a="http://schemas.openxmlformats.org/drawingml/2006/main">
            <a:off x="628650" y="438150"/>
            <a:ext cx="1093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700" b="1">
                <a:solidFill>
                  <a:srgbClr val="203247"/>
                </a:solidFill>
              </a:defRPr>
            </a:defPPr>
          </a:lstStyle>
          <a:p xmlns:a="http://schemas.openxmlformats.org/drawingml/2006/main">
            <a:pPr algn="l">
              <a:defRPr sz="2700" b="1">
                <a:solidFill>
                  <a:srgbClr val="203247"/>
                </a:solidFill>
              </a:defRPr>
            </a:pPr>
            <a:r>
              <a:rPr sz="2700" b="1">
                <a:solidFill>
                  <a:srgbClr val="203247"/>
                </a:solidFill>
              </a:rPr>
              <a:t>How the score stays consistent</a:t>
            </a:r>
          </a:p>
        </p:txBody>
      </p:sp>
      <p:sp>
        <p:nvSpPr>
          <p:cNvPr id="3" name="">
            <a:extLst xmlns:a="http://schemas.openxmlformats.org/drawingml/2006/main">
              <a:ext uri="{FF2B5EF4-FFF2-40B4-BE49-F238E27FC236}">
                <a16:creationId xmlns:a16="http://schemas.microsoft.com/office/drawing/2014/main" id="{F5F5EC85-B79D-4E40-AC0B-F9FDAB983D0E}"/>
              </a:ext>
            </a:extLst>
          </p:cNvPr>
          <p:cNvSpPr>
            <a:spLocks xmlns:a="http://schemas.openxmlformats.org/drawingml/2006/main" noGrp="1"/>
          </p:cNvSpPr>
          <p:nvPr/>
        </p:nvSpPr>
        <p:spPr>
          <a:xfrm xmlns:a="http://schemas.openxmlformats.org/drawingml/2006/main">
            <a:off x="628650" y="9715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0">
                <a:solidFill>
                  <a:srgbClr val="59677A"/>
                </a:solidFill>
              </a:defRPr>
            </a:defPPr>
          </a:lstStyle>
          <a:p xmlns:a="http://schemas.openxmlformats.org/drawingml/2006/main">
            <a:pPr algn="l">
              <a:defRPr sz="1425" b="0">
                <a:solidFill>
                  <a:srgbClr val="59677A"/>
                </a:solidFill>
              </a:defRPr>
            </a:pPr>
            <a:r>
              <a:rPr sz="1425" b="0">
                <a:solidFill>
                  <a:srgbClr val="59677A"/>
                </a:solidFill>
              </a:rPr>
              <a:t>Three inputs contribute to one room score, capped at 100.</a:t>
            </a:r>
          </a:p>
        </p:txBody>
      </p:sp>
      <p:sp>
        <p:nvSpPr>
          <p:cNvPr id="4" name="">
            <a:extLst xmlns:a="http://schemas.openxmlformats.org/drawingml/2006/main">
              <a:ext uri="{FF2B5EF4-FFF2-40B4-BE49-F238E27FC236}">
                <a16:creationId xmlns:a16="http://schemas.microsoft.com/office/drawing/2014/main" id="{ECC93620-5A79-4458-AA50-276892A37DD0}"/>
              </a:ext>
            </a:extLst>
          </p:cNvPr>
          <p:cNvSpPr>
            <a:spLocks xmlns:a="http://schemas.openxmlformats.org/drawingml/2006/main" noGrp="1"/>
          </p:cNvSpPr>
          <p:nvPr/>
        </p:nvSpPr>
        <p:spPr>
          <a:xfrm xmlns:a="http://schemas.openxmlformats.org/drawingml/2006/main">
            <a:off x="10858500" y="64293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4</a:t>
            </a:r>
          </a:p>
        </p:txBody>
      </p:sp>
      <p:sp>
        <p:nvSpPr>
          <p:cNvPr id="5" name="">
            <a:extLst xmlns:a="http://schemas.openxmlformats.org/drawingml/2006/main">
              <a:ext uri="{FF2B5EF4-FFF2-40B4-BE49-F238E27FC236}">
                <a16:creationId xmlns:a16="http://schemas.microsoft.com/office/drawing/2014/main" id="{A26AC679-C8D5-4EC5-B6E8-47EE106B1D41}"/>
              </a:ext>
            </a:extLst>
          </p:cNvPr>
          <p:cNvSpPr>
            <a:spLocks xmlns:a="http://schemas.openxmlformats.org/drawingml/2006/main" noGrp="1"/>
          </p:cNvSpPr>
          <p:nvPr/>
        </p:nvSpPr>
        <p:spPr>
          <a:xfrm xmlns:a="http://schemas.openxmlformats.org/drawingml/2006/main">
            <a:off x="762000" y="21145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125" b="1">
                <a:solidFill>
                  <a:srgbClr val="1E5D78"/>
                </a:solidFill>
              </a:defRPr>
            </a:defPPr>
          </a:lstStyle>
          <a:p xmlns:a="http://schemas.openxmlformats.org/drawingml/2006/main">
            <a:pPr algn="l">
              <a:defRPr sz="1125" b="1">
                <a:solidFill>
                  <a:srgbClr val="1E5D78"/>
                </a:solidFill>
              </a:defRPr>
            </a:pPr>
            <a:r>
              <a:rPr sz="1125" b="1">
                <a:solidFill>
                  <a:srgbClr val="1E5D78"/>
                </a:solidFill>
              </a:rPr>
              <a:t>VISIBLE HAZARDS</a:t>
            </a:r>
          </a:p>
        </p:txBody>
      </p:sp>
      <p:sp>
        <p:nvSpPr>
          <p:cNvPr id="6" name="">
            <a:extLst xmlns:a="http://schemas.openxmlformats.org/drawingml/2006/main">
              <a:ext uri="{FF2B5EF4-FFF2-40B4-BE49-F238E27FC236}">
                <a16:creationId xmlns:a16="http://schemas.microsoft.com/office/drawing/2014/main" id="{78EE4808-9F79-432F-8CDE-85E4C411C7BC}"/>
              </a:ext>
            </a:extLst>
          </p:cNvPr>
          <p:cNvSpPr>
            <a:spLocks xmlns:a="http://schemas.openxmlformats.org/drawingml/2006/main" noGrp="1"/>
          </p:cNvSpPr>
          <p:nvPr/>
        </p:nvSpPr>
        <p:spPr>
          <a:xfrm xmlns:a="http://schemas.openxmlformats.org/drawingml/2006/main">
            <a:off x="762000" y="24574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203247"/>
                </a:solidFill>
              </a:defRPr>
            </a:defPPr>
          </a:lstStyle>
          <a:p xmlns:a="http://schemas.openxmlformats.org/drawingml/2006/main">
            <a:pPr algn="l">
              <a:defRPr sz="2025" b="1">
                <a:solidFill>
                  <a:srgbClr val="203247"/>
                </a:solidFill>
              </a:defRPr>
            </a:pPr>
            <a:r>
              <a:rPr sz="2025" b="1">
                <a:solidFill>
                  <a:srgbClr val="203247"/>
                </a:solidFill>
              </a:rPr>
              <a:t>1-15 points each</a:t>
            </a:r>
          </a:p>
        </p:txBody>
      </p:sp>
      <p:sp>
        <p:nvSpPr>
          <p:cNvPr id="7" name="">
            <a:extLst xmlns:a="http://schemas.openxmlformats.org/drawingml/2006/main">
              <a:ext uri="{FF2B5EF4-FFF2-40B4-BE49-F238E27FC236}">
                <a16:creationId xmlns:a16="http://schemas.microsoft.com/office/drawing/2014/main" id="{BA30F692-DA33-4BA1-A3D0-12D8F4A584B0}"/>
              </a:ext>
            </a:extLst>
          </p:cNvPr>
          <p:cNvSpPr>
            <a:spLocks xmlns:a="http://schemas.openxmlformats.org/drawingml/2006/main" noGrp="1"/>
          </p:cNvSpPr>
          <p:nvPr/>
        </p:nvSpPr>
        <p:spPr>
          <a:xfrm xmlns:a="http://schemas.openxmlformats.org/drawingml/2006/main">
            <a:off x="4533900" y="21145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125" b="1">
                <a:solidFill>
                  <a:srgbClr val="2F7D68"/>
                </a:solidFill>
              </a:defRPr>
            </a:defPPr>
          </a:lstStyle>
          <a:p xmlns:a="http://schemas.openxmlformats.org/drawingml/2006/main">
            <a:pPr algn="l">
              <a:defRPr sz="1125" b="1">
                <a:solidFill>
                  <a:srgbClr val="2F7D68"/>
                </a:solidFill>
              </a:defRPr>
            </a:pPr>
            <a:r>
              <a:rPr sz="1125" b="1">
                <a:solidFill>
                  <a:srgbClr val="2F7D68"/>
                </a:solidFill>
              </a:rPr>
              <a:t>FOLLOW-UP CONCERNS</a:t>
            </a:r>
          </a:p>
        </p:txBody>
      </p:sp>
      <p:sp>
        <p:nvSpPr>
          <p:cNvPr id="8" name="">
            <a:extLst xmlns:a="http://schemas.openxmlformats.org/drawingml/2006/main">
              <a:ext uri="{FF2B5EF4-FFF2-40B4-BE49-F238E27FC236}">
                <a16:creationId xmlns:a16="http://schemas.microsoft.com/office/drawing/2014/main" id="{394C0CC1-6598-45E6-A21E-78A7E1304136}"/>
              </a:ext>
            </a:extLst>
          </p:cNvPr>
          <p:cNvSpPr>
            <a:spLocks xmlns:a="http://schemas.openxmlformats.org/drawingml/2006/main" noGrp="1"/>
          </p:cNvSpPr>
          <p:nvPr/>
        </p:nvSpPr>
        <p:spPr>
          <a:xfrm xmlns:a="http://schemas.openxmlformats.org/drawingml/2006/main">
            <a:off x="4533900" y="24574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203247"/>
                </a:solidFill>
              </a:defRPr>
            </a:defPPr>
          </a:lstStyle>
          <a:p xmlns:a="http://schemas.openxmlformats.org/drawingml/2006/main">
            <a:pPr algn="l">
              <a:defRPr sz="2025" b="1">
                <a:solidFill>
                  <a:srgbClr val="203247"/>
                </a:solidFill>
              </a:defRPr>
            </a:pPr>
            <a:r>
              <a:rPr sz="2025" b="1">
                <a:solidFill>
                  <a:srgbClr val="203247"/>
                </a:solidFill>
              </a:rPr>
              <a:t>Weighted by answer</a:t>
            </a:r>
          </a:p>
        </p:txBody>
      </p:sp>
      <p:sp>
        <p:nvSpPr>
          <p:cNvPr id="9" name="">
            <a:extLst xmlns:a="http://schemas.openxmlformats.org/drawingml/2006/main">
              <a:ext uri="{FF2B5EF4-FFF2-40B4-BE49-F238E27FC236}">
                <a16:creationId xmlns:a16="http://schemas.microsoft.com/office/drawing/2014/main" id="{6C5A963A-8DF2-4D68-BC3C-8F8DA1E5D041}"/>
              </a:ext>
            </a:extLst>
          </p:cNvPr>
          <p:cNvSpPr>
            <a:spLocks xmlns:a="http://schemas.openxmlformats.org/drawingml/2006/main" noGrp="1"/>
          </p:cNvSpPr>
          <p:nvPr/>
        </p:nvSpPr>
        <p:spPr>
          <a:xfrm xmlns:a="http://schemas.openxmlformats.org/drawingml/2006/main">
            <a:off x="8305800" y="21145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125" b="1">
                <a:solidFill>
                  <a:srgbClr val="C9793A"/>
                </a:solidFill>
              </a:defRPr>
            </a:defPPr>
          </a:lstStyle>
          <a:p xmlns:a="http://schemas.openxmlformats.org/drawingml/2006/main">
            <a:pPr algn="l">
              <a:defRPr sz="1125" b="1">
                <a:solidFill>
                  <a:srgbClr val="C9793A"/>
                </a:solidFill>
              </a:defRPr>
            </a:pPr>
            <a:r>
              <a:rPr sz="1125" b="1">
                <a:solidFill>
                  <a:srgbClr val="C9793A"/>
                </a:solidFill>
              </a:rPr>
              <a:t>SKIPPED QUESTIONS</a:t>
            </a:r>
          </a:p>
        </p:txBody>
      </p:sp>
      <p:sp>
        <p:nvSpPr>
          <p:cNvPr id="10" name="">
            <a:extLst xmlns:a="http://schemas.openxmlformats.org/drawingml/2006/main">
              <a:ext uri="{FF2B5EF4-FFF2-40B4-BE49-F238E27FC236}">
                <a16:creationId xmlns:a16="http://schemas.microsoft.com/office/drawing/2014/main" id="{311A02E3-E13E-4514-87EB-1FC7FCFCCA11}"/>
              </a:ext>
            </a:extLst>
          </p:cNvPr>
          <p:cNvSpPr>
            <a:spLocks xmlns:a="http://schemas.openxmlformats.org/drawingml/2006/main" noGrp="1"/>
          </p:cNvSpPr>
          <p:nvPr/>
        </p:nvSpPr>
        <p:spPr>
          <a:xfrm xmlns:a="http://schemas.openxmlformats.org/drawingml/2006/main">
            <a:off x="8305800" y="24574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203247"/>
                </a:solidFill>
              </a:defRPr>
            </a:defPPr>
          </a:lstStyle>
          <a:p xmlns:a="http://schemas.openxmlformats.org/drawingml/2006/main">
            <a:pPr algn="l">
              <a:defRPr sz="2025" b="1">
                <a:solidFill>
                  <a:srgbClr val="203247"/>
                </a:solidFill>
              </a:defRPr>
            </a:pPr>
            <a:r>
              <a:rPr sz="2025" b="1">
                <a:solidFill>
                  <a:srgbClr val="203247"/>
                </a:solidFill>
              </a:rPr>
              <a:t>0-15 point buffer</a:t>
            </a:r>
          </a:p>
        </p:txBody>
      </p:sp>
      <p:sp>
        <p:nvSpPr>
          <p:cNvPr id="11" name="">
            <a:extLst xmlns:a="http://schemas.openxmlformats.org/drawingml/2006/main">
              <a:ext uri="{FF2B5EF4-FFF2-40B4-BE49-F238E27FC236}">
                <a16:creationId xmlns:a16="http://schemas.microsoft.com/office/drawing/2014/main" id="{1FA75284-E3C7-4C08-AB4E-C2EADF667657}"/>
              </a:ext>
            </a:extLst>
          </p:cNvPr>
          <p:cNvSpPr>
            <a:spLocks xmlns:a="http://schemas.openxmlformats.org/drawingml/2006/main" noGrp="1"/>
          </p:cNvSpPr>
          <p:nvPr/>
        </p:nvSpPr>
        <p:spPr>
          <a:xfrm xmlns:a="http://schemas.openxmlformats.org/drawingml/2006/main">
            <a:off x="3790950" y="24288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550" b="1">
                <a:solidFill>
                  <a:srgbClr val="59677A"/>
                </a:solidFill>
              </a:defRPr>
            </a:defPPr>
          </a:lstStyle>
          <a:p xmlns:a="http://schemas.openxmlformats.org/drawingml/2006/main">
            <a:pPr algn="ctr">
              <a:defRPr sz="2550" b="1">
                <a:solidFill>
                  <a:srgbClr val="59677A"/>
                </a:solidFill>
              </a:defRPr>
            </a:pPr>
            <a:r>
              <a:rPr sz="2550" b="1">
                <a:solidFill>
                  <a:srgbClr val="59677A"/>
                </a:solidFill>
              </a:rPr>
              <a:t>+</a:t>
            </a:r>
          </a:p>
        </p:txBody>
      </p:sp>
      <p:sp>
        <p:nvSpPr>
          <p:cNvPr id="12" name="">
            <a:extLst xmlns:a="http://schemas.openxmlformats.org/drawingml/2006/main">
              <a:ext uri="{FF2B5EF4-FFF2-40B4-BE49-F238E27FC236}">
                <a16:creationId xmlns:a16="http://schemas.microsoft.com/office/drawing/2014/main" id="{23C52DA7-B33F-421E-BC6E-F4BAD056B00A}"/>
              </a:ext>
            </a:extLst>
          </p:cNvPr>
          <p:cNvSpPr>
            <a:spLocks xmlns:a="http://schemas.openxmlformats.org/drawingml/2006/main" noGrp="1"/>
          </p:cNvSpPr>
          <p:nvPr/>
        </p:nvSpPr>
        <p:spPr>
          <a:xfrm xmlns:a="http://schemas.openxmlformats.org/drawingml/2006/main">
            <a:off x="7562850" y="24288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550" b="1">
                <a:solidFill>
                  <a:srgbClr val="59677A"/>
                </a:solidFill>
              </a:defRPr>
            </a:defPPr>
          </a:lstStyle>
          <a:p xmlns:a="http://schemas.openxmlformats.org/drawingml/2006/main">
            <a:pPr algn="ctr">
              <a:defRPr sz="2550" b="1">
                <a:solidFill>
                  <a:srgbClr val="59677A"/>
                </a:solidFill>
              </a:defRPr>
            </a:pPr>
            <a:r>
              <a:rPr sz="2550" b="1">
                <a:solidFill>
                  <a:srgbClr val="59677A"/>
                </a:solidFill>
              </a:rPr>
              <a:t>+</a:t>
            </a:r>
          </a:p>
        </p:txBody>
      </p:sp>
      <p:sp>
        <p:nvSpPr>
          <p:cNvPr id="13" name="">
            <a:extLst xmlns:a="http://schemas.openxmlformats.org/drawingml/2006/main">
              <a:ext uri="{FF2B5EF4-FFF2-40B4-BE49-F238E27FC236}">
                <a16:creationId xmlns:a16="http://schemas.microsoft.com/office/drawing/2014/main" id="{F5B813FC-79C1-451A-B0E1-B3A174B9877A}"/>
              </a:ext>
            </a:extLst>
          </p:cNvPr>
          <p:cNvSpPr>
            <a:spLocks xmlns:a="http://schemas.openxmlformats.org/drawingml/2006/main" noGrp="1"/>
          </p:cNvSpPr>
          <p:nvPr/>
        </p:nvSpPr>
        <p:spPr>
          <a:xfrm xmlns:a="http://schemas.openxmlformats.org/drawingml/2006/main">
            <a:off x="762000" y="3314700"/>
            <a:ext cx="10401300" cy="19050"/>
          </a:xfrm>
          <a:prstGeom xmlns:a="http://schemas.openxmlformats.org/drawingml/2006/main" prst="rect">
            <a:avLst/>
          </a:prstGeom>
          <a:solidFill xmlns:a="http://schemas.openxmlformats.org/drawingml/2006/main">
            <a:srgbClr val="D8D3C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92379D4-A0FB-418B-A028-BBB9B256A9A1}"/>
              </a:ext>
            </a:extLst>
          </p:cNvPr>
          <p:cNvSpPr>
            <a:spLocks xmlns:a="http://schemas.openxmlformats.org/drawingml/2006/main" noGrp="1"/>
          </p:cNvSpPr>
          <p:nvPr/>
        </p:nvSpPr>
        <p:spPr>
          <a:xfrm xmlns:a="http://schemas.openxmlformats.org/drawingml/2006/main">
            <a:off x="876300" y="38290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100" b="1">
                <a:solidFill>
                  <a:srgbClr val="2F7D68"/>
                </a:solidFill>
              </a:defRPr>
            </a:defPPr>
          </a:lstStyle>
          <a:p xmlns:a="http://schemas.openxmlformats.org/drawingml/2006/main">
            <a:pPr algn="ctr">
              <a:defRPr sz="2100" b="1">
                <a:solidFill>
                  <a:srgbClr val="2F7D68"/>
                </a:solidFill>
              </a:defRPr>
            </a:pPr>
            <a:r>
              <a:rPr sz="2100" b="1">
                <a:solidFill>
                  <a:srgbClr val="2F7D68"/>
                </a:solidFill>
              </a:rPr>
              <a:t>0-29</a:t>
            </a:r>
          </a:p>
        </p:txBody>
      </p:sp>
      <p:sp>
        <p:nvSpPr>
          <p:cNvPr id="15" name="">
            <a:extLst xmlns:a="http://schemas.openxmlformats.org/drawingml/2006/main">
              <a:ext uri="{FF2B5EF4-FFF2-40B4-BE49-F238E27FC236}">
                <a16:creationId xmlns:a16="http://schemas.microsoft.com/office/drawing/2014/main" id="{751BCAAE-15D1-4D45-9C21-ABE23E6DF225}"/>
              </a:ext>
            </a:extLst>
          </p:cNvPr>
          <p:cNvSpPr>
            <a:spLocks xmlns:a="http://schemas.openxmlformats.org/drawingml/2006/main" noGrp="1"/>
          </p:cNvSpPr>
          <p:nvPr/>
        </p:nvSpPr>
        <p:spPr>
          <a:xfrm xmlns:a="http://schemas.openxmlformats.org/drawingml/2006/main">
            <a:off x="876300" y="4276725"/>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500" b="0">
                <a:solidFill>
                  <a:srgbClr val="59677A"/>
                </a:solidFill>
              </a:defRPr>
            </a:defPPr>
          </a:lstStyle>
          <a:p xmlns:a="http://schemas.openxmlformats.org/drawingml/2006/main">
            <a:pPr algn="ctr">
              <a:defRPr sz="1500" b="0">
                <a:solidFill>
                  <a:srgbClr val="59677A"/>
                </a:solidFill>
              </a:defRPr>
            </a:pPr>
            <a:r>
              <a:rPr sz="1500" b="0">
                <a:solidFill>
                  <a:srgbClr val="59677A"/>
                </a:solidFill>
              </a:rPr>
              <a:t>Low</a:t>
            </a:r>
          </a:p>
        </p:txBody>
      </p:sp>
      <p:sp>
        <p:nvSpPr>
          <p:cNvPr id="16" name="">
            <a:extLst xmlns:a="http://schemas.openxmlformats.org/drawingml/2006/main">
              <a:ext uri="{FF2B5EF4-FFF2-40B4-BE49-F238E27FC236}">
                <a16:creationId xmlns:a16="http://schemas.microsoft.com/office/drawing/2014/main" id="{7B5DCAA1-337F-4B93-8F68-32A2C6CCFCED}"/>
              </a:ext>
            </a:extLst>
          </p:cNvPr>
          <p:cNvSpPr>
            <a:spLocks xmlns:a="http://schemas.openxmlformats.org/drawingml/2006/main" noGrp="1"/>
          </p:cNvSpPr>
          <p:nvPr/>
        </p:nvSpPr>
        <p:spPr>
          <a:xfrm xmlns:a="http://schemas.openxmlformats.org/drawingml/2006/main">
            <a:off x="4857750" y="38290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100" b="1">
                <a:solidFill>
                  <a:srgbClr val="C9793A"/>
                </a:solidFill>
              </a:defRPr>
            </a:defPPr>
          </a:lstStyle>
          <a:p xmlns:a="http://schemas.openxmlformats.org/drawingml/2006/main">
            <a:pPr algn="ctr">
              <a:defRPr sz="2100" b="1">
                <a:solidFill>
                  <a:srgbClr val="C9793A"/>
                </a:solidFill>
              </a:defRPr>
            </a:pPr>
            <a:r>
              <a:rPr sz="2100" b="1">
                <a:solidFill>
                  <a:srgbClr val="C9793A"/>
                </a:solidFill>
              </a:rPr>
              <a:t>30-59</a:t>
            </a:r>
          </a:p>
        </p:txBody>
      </p:sp>
      <p:sp>
        <p:nvSpPr>
          <p:cNvPr id="17" name="">
            <a:extLst xmlns:a="http://schemas.openxmlformats.org/drawingml/2006/main">
              <a:ext uri="{FF2B5EF4-FFF2-40B4-BE49-F238E27FC236}">
                <a16:creationId xmlns:a16="http://schemas.microsoft.com/office/drawing/2014/main" id="{3EE80051-8DC0-40B5-B5CE-8E860D160B95}"/>
              </a:ext>
            </a:extLst>
          </p:cNvPr>
          <p:cNvSpPr>
            <a:spLocks xmlns:a="http://schemas.openxmlformats.org/drawingml/2006/main" noGrp="1"/>
          </p:cNvSpPr>
          <p:nvPr/>
        </p:nvSpPr>
        <p:spPr>
          <a:xfrm xmlns:a="http://schemas.openxmlformats.org/drawingml/2006/main">
            <a:off x="4857750" y="4276725"/>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500" b="0">
                <a:solidFill>
                  <a:srgbClr val="59677A"/>
                </a:solidFill>
              </a:defRPr>
            </a:defPPr>
          </a:lstStyle>
          <a:p xmlns:a="http://schemas.openxmlformats.org/drawingml/2006/main">
            <a:pPr algn="ctr">
              <a:defRPr sz="1500" b="0">
                <a:solidFill>
                  <a:srgbClr val="59677A"/>
                </a:solidFill>
              </a:defRPr>
            </a:pPr>
            <a:r>
              <a:rPr sz="1500" b="0">
                <a:solidFill>
                  <a:srgbClr val="59677A"/>
                </a:solidFill>
              </a:rPr>
              <a:t>Moderate</a:t>
            </a:r>
          </a:p>
        </p:txBody>
      </p:sp>
      <p:sp>
        <p:nvSpPr>
          <p:cNvPr id="18" name="">
            <a:extLst xmlns:a="http://schemas.openxmlformats.org/drawingml/2006/main">
              <a:ext uri="{FF2B5EF4-FFF2-40B4-BE49-F238E27FC236}">
                <a16:creationId xmlns:a16="http://schemas.microsoft.com/office/drawing/2014/main" id="{3E2AD71A-4F42-4931-92DF-7CADE1A6A716}"/>
              </a:ext>
            </a:extLst>
          </p:cNvPr>
          <p:cNvSpPr>
            <a:spLocks xmlns:a="http://schemas.openxmlformats.org/drawingml/2006/main" noGrp="1"/>
          </p:cNvSpPr>
          <p:nvPr/>
        </p:nvSpPr>
        <p:spPr>
          <a:xfrm xmlns:a="http://schemas.openxmlformats.org/drawingml/2006/main">
            <a:off x="8839200" y="38290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100" b="1">
                <a:solidFill>
                  <a:srgbClr val="B75045"/>
                </a:solidFill>
              </a:defRPr>
            </a:defPPr>
          </a:lstStyle>
          <a:p xmlns:a="http://schemas.openxmlformats.org/drawingml/2006/main">
            <a:pPr algn="ctr">
              <a:defRPr sz="2100" b="1">
                <a:solidFill>
                  <a:srgbClr val="B75045"/>
                </a:solidFill>
              </a:defRPr>
            </a:pPr>
            <a:r>
              <a:rPr sz="2100" b="1">
                <a:solidFill>
                  <a:srgbClr val="B75045"/>
                </a:solidFill>
              </a:rPr>
              <a:t>60-100</a:t>
            </a:r>
          </a:p>
        </p:txBody>
      </p:sp>
      <p:sp>
        <p:nvSpPr>
          <p:cNvPr id="19" name="">
            <a:extLst xmlns:a="http://schemas.openxmlformats.org/drawingml/2006/main">
              <a:ext uri="{FF2B5EF4-FFF2-40B4-BE49-F238E27FC236}">
                <a16:creationId xmlns:a16="http://schemas.microsoft.com/office/drawing/2014/main" id="{50BB15CF-ABD4-41BC-8D68-1D4976B85A05}"/>
              </a:ext>
            </a:extLst>
          </p:cNvPr>
          <p:cNvSpPr>
            <a:spLocks xmlns:a="http://schemas.openxmlformats.org/drawingml/2006/main" noGrp="1"/>
          </p:cNvSpPr>
          <p:nvPr/>
        </p:nvSpPr>
        <p:spPr>
          <a:xfrm xmlns:a="http://schemas.openxmlformats.org/drawingml/2006/main">
            <a:off x="8839200" y="4276725"/>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500" b="0">
                <a:solidFill>
                  <a:srgbClr val="59677A"/>
                </a:solidFill>
              </a:defRPr>
            </a:defPPr>
          </a:lstStyle>
          <a:p xmlns:a="http://schemas.openxmlformats.org/drawingml/2006/main">
            <a:pPr algn="ctr">
              <a:defRPr sz="1500" b="0">
                <a:solidFill>
                  <a:srgbClr val="59677A"/>
                </a:solidFill>
              </a:defRPr>
            </a:pPr>
            <a:r>
              <a:rPr sz="1500" b="0">
                <a:solidFill>
                  <a:srgbClr val="59677A"/>
                </a:solidFill>
              </a:rPr>
              <a:t>High</a:t>
            </a:r>
          </a:p>
        </p:txBody>
      </p:sp>
      <p:sp>
        <p:nvSpPr>
          <p:cNvPr id="20" name="">
            <a:extLst xmlns:a="http://schemas.openxmlformats.org/drawingml/2006/main">
              <a:ext uri="{FF2B5EF4-FFF2-40B4-BE49-F238E27FC236}">
                <a16:creationId xmlns:a16="http://schemas.microsoft.com/office/drawing/2014/main" id="{B21BA7AB-E265-4B53-BBDC-88537447AB92}"/>
              </a:ext>
            </a:extLst>
          </p:cNvPr>
          <p:cNvSpPr>
            <a:spLocks xmlns:a="http://schemas.openxmlformats.org/drawingml/2006/main" noGrp="1"/>
          </p:cNvSpPr>
          <p:nvPr/>
        </p:nvSpPr>
        <p:spPr>
          <a:xfrm xmlns:a="http://schemas.openxmlformats.org/drawingml/2006/main">
            <a:off x="1466850" y="4800600"/>
            <a:ext cx="9258300" cy="628650"/>
          </a:xfrm>
          <a:prstGeom xmlns:a="http://schemas.openxmlformats.org/drawingml/2006/main" prst="roundRect">
            <a:avLst>
              <a:gd name="adj" fmla="val 12121"/>
            </a:avLst>
          </a:prstGeom>
          <a:solidFill xmlns:a="http://schemas.openxmlformats.org/drawingml/2006/main">
            <a:srgbClr val="FFFDFC"/>
          </a:solidFill>
          <a:ln xmlns:a="http://schemas.openxmlformats.org/drawingml/2006/main" w="9525">
            <a:solidFill>
              <a:srgbClr val="D8D3CA"/>
            </a:solidFill>
            <a:prstDash val="solid"/>
          </a:ln>
        </p:spPr>
      </p:sp>
      <p:sp>
        <p:nvSpPr>
          <p:cNvPr id="21" name="">
            <a:extLst xmlns:a="http://schemas.openxmlformats.org/drawingml/2006/main">
              <a:ext uri="{FF2B5EF4-FFF2-40B4-BE49-F238E27FC236}">
                <a16:creationId xmlns:a16="http://schemas.microsoft.com/office/drawing/2014/main" id="{7FD23BF8-3470-4C34-B020-B099B053075D}"/>
              </a:ext>
            </a:extLst>
          </p:cNvPr>
          <p:cNvSpPr>
            <a:spLocks xmlns:a="http://schemas.openxmlformats.org/drawingml/2006/main" noGrp="1"/>
          </p:cNvSpPr>
          <p:nvPr/>
        </p:nvSpPr>
        <p:spPr>
          <a:xfrm xmlns:a="http://schemas.openxmlformats.org/drawingml/2006/main">
            <a:off x="1657350" y="4895850"/>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050" b="1">
                <a:solidFill>
                  <a:srgbClr val="1E5D78"/>
                </a:solidFill>
              </a:defRPr>
            </a:defPPr>
          </a:lstStyle>
          <a:p xmlns:a="http://schemas.openxmlformats.org/drawingml/2006/main">
            <a:pPr algn="l">
              <a:defRPr sz="1050" b="1">
                <a:solidFill>
                  <a:srgbClr val="1E5D78"/>
                </a:solidFill>
              </a:defRPr>
            </a:pPr>
            <a:r>
              <a:rPr sz="1050" b="1">
                <a:solidFill>
                  <a:srgbClr val="1E5D78"/>
                </a:solidFill>
              </a:rPr>
              <a:t>WORKED EXAMPLE</a:t>
            </a:r>
          </a:p>
        </p:txBody>
      </p:sp>
      <p:sp>
        <p:nvSpPr>
          <p:cNvPr id="22" name="">
            <a:extLst xmlns:a="http://schemas.openxmlformats.org/drawingml/2006/main">
              <a:ext uri="{FF2B5EF4-FFF2-40B4-BE49-F238E27FC236}">
                <a16:creationId xmlns:a16="http://schemas.microsoft.com/office/drawing/2014/main" id="{C4B0865D-9CBF-46F7-9322-39559555866F}"/>
              </a:ext>
            </a:extLst>
          </p:cNvPr>
          <p:cNvSpPr>
            <a:spLocks xmlns:a="http://schemas.openxmlformats.org/drawingml/2006/main" noGrp="1"/>
          </p:cNvSpPr>
          <p:nvPr/>
        </p:nvSpPr>
        <p:spPr>
          <a:xfrm xmlns:a="http://schemas.openxmlformats.org/drawingml/2006/main">
            <a:off x="1657350" y="51244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1">
                <a:solidFill>
                  <a:srgbClr val="203247"/>
                </a:solidFill>
              </a:defRPr>
            </a:defPPr>
          </a:lstStyle>
          <a:p xmlns:a="http://schemas.openxmlformats.org/drawingml/2006/main">
            <a:pPr algn="l">
              <a:defRPr sz="1350" b="1">
                <a:solidFill>
                  <a:srgbClr val="203247"/>
                </a:solidFill>
              </a:defRPr>
            </a:pPr>
            <a:r>
              <a:rPr sz="1350" b="1">
                <a:solidFill>
                  <a:srgbClr val="203247"/>
                </a:solidFill>
              </a:rPr>
              <a:t>Visible hazards 28   +   Follow-up concerns 12   +   Skip buffer 0   =   Room score 40  Moderate</a:t>
            </a:r>
          </a:p>
        </p:txBody>
      </p:sp>
      <p:sp>
        <p:nvSpPr>
          <p:cNvPr id="23" name="">
            <a:extLst xmlns:a="http://schemas.openxmlformats.org/drawingml/2006/main">
              <a:ext uri="{FF2B5EF4-FFF2-40B4-BE49-F238E27FC236}">
                <a16:creationId xmlns:a16="http://schemas.microsoft.com/office/drawing/2014/main" id="{42857999-9D99-4778-B553-D78504AC9530}"/>
              </a:ext>
            </a:extLst>
          </p:cNvPr>
          <p:cNvSpPr>
            <a:spLocks xmlns:a="http://schemas.openxmlformats.org/drawingml/2006/main" noGrp="1"/>
          </p:cNvSpPr>
          <p:nvPr/>
        </p:nvSpPr>
        <p:spPr>
          <a:xfrm xmlns:a="http://schemas.openxmlformats.org/drawingml/2006/main">
            <a:off x="762000" y="5619750"/>
            <a:ext cx="1040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275" b="1">
                <a:solidFill>
                  <a:srgbClr val="203247"/>
                </a:solidFill>
              </a:defRPr>
            </a:defPPr>
          </a:lstStyle>
          <a:p xmlns:a="http://schemas.openxmlformats.org/drawingml/2006/main">
            <a:pPr algn="ctr">
              <a:defRPr sz="1275" b="1">
                <a:solidFill>
                  <a:srgbClr val="203247"/>
                </a:solidFill>
              </a:defRPr>
            </a:pPr>
            <a:r>
              <a:rPr sz="1275" b="1">
                <a:solidFill>
                  <a:srgbClr val="203247"/>
                </a:solidFill>
              </a:rPr>
              <a:t>Fallback rule: if an AI point value is missing or invalid, the app uses the category's tested default. Final score = min(100, total).</a:t>
            </a:r>
          </a:p>
        </p:txBody>
      </p:sp>
    </p:spTree>
    <p:extLst>
      <p:ext uri="{BB962C8B-B14F-4D97-AF65-F5344CB8AC3E}">
        <p14:creationId xmlns:p14="http://schemas.microsoft.com/office/powerpoint/2010/main" val="1544751373"/>
      </p:ext>
    </p:extLst>
  </p:cSld>
</p:sld>
</file>

<file path=ppt/slides/slide5.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DB17D8-15BB-4228-8485-C170C4A9909D}"/>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29AF17-7272-406F-81C1-D99A0ADE7034}"/>
              </a:ext>
            </a:extLst>
          </p:cNvPr>
          <p:cNvSpPr>
            <a:spLocks xmlns:a="http://schemas.openxmlformats.org/drawingml/2006/main" noGrp="1"/>
          </p:cNvSpPr>
          <p:nvPr/>
        </p:nvSpPr>
        <p:spPr>
          <a:xfrm xmlns:a="http://schemas.openxmlformats.org/drawingml/2006/main">
            <a:off x="628650" y="438150"/>
            <a:ext cx="1093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700" b="1">
                <a:solidFill>
                  <a:srgbClr val="203247"/>
                </a:solidFill>
              </a:defRPr>
            </a:defPPr>
          </a:lstStyle>
          <a:p xmlns:a="http://schemas.openxmlformats.org/drawingml/2006/main">
            <a:pPr algn="l">
              <a:defRPr sz="2700" b="1">
                <a:solidFill>
                  <a:srgbClr val="203247"/>
                </a:solidFill>
              </a:defRPr>
            </a:pPr>
            <a:r>
              <a:rPr sz="2700" b="1">
                <a:solidFill>
                  <a:srgbClr val="203247"/>
                </a:solidFill>
              </a:rPr>
              <a:t>Testing &amp; validation</a:t>
            </a:r>
          </a:p>
        </p:txBody>
      </p:sp>
      <p:sp>
        <p:nvSpPr>
          <p:cNvPr id="3" name="">
            <a:extLst xmlns:a="http://schemas.openxmlformats.org/drawingml/2006/main">
              <a:ext uri="{FF2B5EF4-FFF2-40B4-BE49-F238E27FC236}">
                <a16:creationId xmlns:a16="http://schemas.microsoft.com/office/drawing/2014/main" id="{F66F82EE-BAD2-4EE8-B263-FE29CB109EE6}"/>
              </a:ext>
            </a:extLst>
          </p:cNvPr>
          <p:cNvSpPr>
            <a:spLocks xmlns:a="http://schemas.openxmlformats.org/drawingml/2006/main" noGrp="1"/>
          </p:cNvSpPr>
          <p:nvPr/>
        </p:nvSpPr>
        <p:spPr>
          <a:xfrm xmlns:a="http://schemas.openxmlformats.org/drawingml/2006/main">
            <a:off x="628650" y="9715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0">
                <a:solidFill>
                  <a:srgbClr val="59677A"/>
                </a:solidFill>
              </a:defRPr>
            </a:defPPr>
          </a:lstStyle>
          <a:p xmlns:a="http://schemas.openxmlformats.org/drawingml/2006/main">
            <a:pPr algn="l">
              <a:defRPr sz="1425" b="0">
                <a:solidFill>
                  <a:srgbClr val="59677A"/>
                </a:solidFill>
              </a:defRPr>
            </a:pPr>
            <a:r>
              <a:rPr sz="1425" b="0">
                <a:solidFill>
                  <a:srgbClr val="59677A"/>
                </a:solidFill>
              </a:rPr>
              <a:t>Results from 10 room photographs I staged and reviewed</a:t>
            </a:r>
          </a:p>
        </p:txBody>
      </p:sp>
      <p:sp>
        <p:nvSpPr>
          <p:cNvPr id="4" name="">
            <a:extLst xmlns:a="http://schemas.openxmlformats.org/drawingml/2006/main">
              <a:ext uri="{FF2B5EF4-FFF2-40B4-BE49-F238E27FC236}">
                <a16:creationId xmlns:a16="http://schemas.microsoft.com/office/drawing/2014/main" id="{E19F643D-080D-474D-8982-17FFCF8D411B}"/>
              </a:ext>
            </a:extLst>
          </p:cNvPr>
          <p:cNvSpPr>
            <a:spLocks xmlns:a="http://schemas.openxmlformats.org/drawingml/2006/main" noGrp="1"/>
          </p:cNvSpPr>
          <p:nvPr/>
        </p:nvSpPr>
        <p:spPr>
          <a:xfrm xmlns:a="http://schemas.openxmlformats.org/drawingml/2006/main">
            <a:off x="10858500" y="64293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5</a:t>
            </a:r>
          </a:p>
        </p:txBody>
      </p:sp>
      <p:graphicFrame>
        <p:nvGraphicFramePr>
          <p:cNvPr id="5" name="">
            <a:extLst xmlns:a="http://schemas.openxmlformats.org/drawingml/2006/main">
              <a:ext uri="{FF2B5EF4-FFF2-40B4-BE49-F238E27FC236}">
                <a16:creationId xmlns:a16="http://schemas.microsoft.com/office/drawing/2014/main" id="{4DD3801E-C639-4ADD-8A83-96DE0F013E06}"/>
              </a:ext>
            </a:extLst>
          </p:cNvPr>
          <p:cNvGraphicFramePr/>
          <p:nvPr/>
        </p:nvGraphicFramePr>
        <p:xfrm>
          <a:off xmlns:a="http://schemas.openxmlformats.org/drawingml/2006/main" x="628650" y="1619250"/>
          <a:ext xmlns:a="http://schemas.openxmlformats.org/drawingml/2006/main" cx="10668000" cy="4171950"/>
        </p:xfrm>
        <a:graphic xmlns:a="http://schemas.openxmlformats.org/drawingml/2006/main">
          <a:graphicData uri="http://schemas.openxmlformats.org/drawingml/2006/table">
            <a:tbl>
              <a:tblPr/>
              <a:tblGrid>
                <a:gridCol w="2571750"/>
                <a:gridCol w="2095500"/>
                <a:gridCol w="1809750"/>
                <a:gridCol w="1619250"/>
                <a:gridCol w="1619250"/>
              </a:tblGrid>
              <a:tr h="347663">
                <a:tc>
                  <a:txBody>
                    <a:bodyPr/>
                    <a:lstStyle/>
                    <a:p>
                      <a:r>
                        <a:rPr sz="1125" b="1">
                          <a:solidFill>
                            <a:srgbClr val="FFFDFC"/>
                          </a:solidFill>
                        </a:rPr>
                        <a:t>Test image</a:t>
                      </a:r>
                    </a:p>
                  </a:txBody>
                  <a:tcPr marL="95250" marR="95250" marT="47625" marB="47625" anchor="ctr">
                    <a:lnL w="9525">
                      <a:solidFill>
                        <a:srgbClr val="D8D3CA"/>
                      </a:solidFill>
                      <a:prstDash val="solid"/>
                    </a:lnL>
                    <a:lnR w="9525">
                      <a:solidFill>
                        <a:srgbClr val="D8D3CA"/>
                      </a:solidFill>
                      <a:prstDash val="solid"/>
                    </a:lnR>
                    <a:lnT w="9525">
                      <a:solidFill>
                        <a:srgbClr val="D8D3CA"/>
                      </a:solidFill>
                      <a:prstDash val="solid"/>
                    </a:lnT>
                    <a:lnB w="9525">
                      <a:solidFill>
                        <a:srgbClr val="D8D3CA"/>
                      </a:solidFill>
                      <a:prstDash val="solid"/>
                    </a:lnB>
                    <a:solidFill>
                      <a:srgbClr val="1E5D78"/>
                    </a:solidFill>
                  </a:tcPr>
                </a:tc>
                <a:tc>
                  <a:txBody>
                    <a:bodyPr/>
                    <a:lstStyle/>
                    <a:p>
                      <a:r>
                        <a:rPr sz="1125" b="1">
                          <a:solidFill>
                            <a:srgbClr val="FFFDFC"/>
                          </a:solidFill>
                        </a:rPr>
                        <a:t>Reference hazards</a:t>
                      </a:r>
                    </a:p>
                  </a:txBody>
                  <a:tcPr marL="95250" marR="95250" marT="47625" marB="47625" anchor="ctr">
                    <a:lnR w="9525">
                      <a:solidFill>
                        <a:srgbClr val="D8D3CA"/>
                      </a:solidFill>
                      <a:prstDash val="solid"/>
                    </a:lnR>
                    <a:lnT w="9525">
                      <a:solidFill>
                        <a:srgbClr val="D8D3CA"/>
                      </a:solidFill>
                      <a:prstDash val="solid"/>
                    </a:lnT>
                    <a:lnB w="9525">
                      <a:solidFill>
                        <a:srgbClr val="D8D3CA"/>
                      </a:solidFill>
                      <a:prstDash val="solid"/>
                    </a:lnB>
                    <a:solidFill>
                      <a:srgbClr val="1E5D78"/>
                    </a:solidFill>
                  </a:tcPr>
                </a:tc>
                <a:tc>
                  <a:txBody>
                    <a:bodyPr/>
                    <a:lstStyle/>
                    <a:p>
                      <a:r>
                        <a:rPr sz="1125" b="1">
                          <a:solidFill>
                            <a:srgbClr val="FFFDFC"/>
                          </a:solidFill>
                        </a:rPr>
                        <a:t>AI reported</a:t>
                      </a:r>
                    </a:p>
                  </a:txBody>
                  <a:tcPr marL="95250" marR="95250" marT="47625" marB="47625" anchor="ctr">
                    <a:lnR w="9525">
                      <a:solidFill>
                        <a:srgbClr val="D8D3CA"/>
                      </a:solidFill>
                      <a:prstDash val="solid"/>
                    </a:lnR>
                    <a:lnT w="9525">
                      <a:solidFill>
                        <a:srgbClr val="D8D3CA"/>
                      </a:solidFill>
                      <a:prstDash val="solid"/>
                    </a:lnT>
                    <a:lnB w="9525">
                      <a:solidFill>
                        <a:srgbClr val="D8D3CA"/>
                      </a:solidFill>
                      <a:prstDash val="solid"/>
                    </a:lnB>
                    <a:solidFill>
                      <a:srgbClr val="1E5D78"/>
                    </a:solidFill>
                  </a:tcPr>
                </a:tc>
                <a:tc>
                  <a:txBody>
                    <a:bodyPr/>
                    <a:lstStyle/>
                    <a:p>
                      <a:r>
                        <a:rPr sz="1125" b="1">
                          <a:solidFill>
                            <a:srgbClr val="FFFDFC"/>
                          </a:solidFill>
                        </a:rPr>
                        <a:t>Correct</a:t>
                      </a:r>
                    </a:p>
                  </a:txBody>
                  <a:tcPr marL="95250" marR="95250" marT="47625" marB="47625" anchor="ctr">
                    <a:lnR w="9525">
                      <a:solidFill>
                        <a:srgbClr val="D8D3CA"/>
                      </a:solidFill>
                      <a:prstDash val="solid"/>
                    </a:lnR>
                    <a:lnT w="9525">
                      <a:solidFill>
                        <a:srgbClr val="D8D3CA"/>
                      </a:solidFill>
                      <a:prstDash val="solid"/>
                    </a:lnT>
                    <a:lnB w="9525">
                      <a:solidFill>
                        <a:srgbClr val="D8D3CA"/>
                      </a:solidFill>
                      <a:prstDash val="solid"/>
                    </a:lnB>
                    <a:solidFill>
                      <a:srgbClr val="1E5D78"/>
                    </a:solidFill>
                  </a:tcPr>
                </a:tc>
                <a:tc>
                  <a:txBody>
                    <a:bodyPr/>
                    <a:lstStyle/>
                    <a:p>
                      <a:r>
                        <a:rPr sz="1125" b="1">
                          <a:solidFill>
                            <a:srgbClr val="FFFDFC"/>
                          </a:solidFill>
                        </a:rPr>
                        <a:t>Missed</a:t>
                      </a:r>
                    </a:p>
                  </a:txBody>
                  <a:tcPr marL="95250" marR="95250" marT="47625" marB="47625" anchor="ctr">
                    <a:lnR w="9525">
                      <a:solidFill>
                        <a:srgbClr val="D8D3CA"/>
                      </a:solidFill>
                      <a:prstDash val="solid"/>
                    </a:lnR>
                    <a:lnT w="9525">
                      <a:solidFill>
                        <a:srgbClr val="D8D3CA"/>
                      </a:solidFill>
                      <a:prstDash val="solid"/>
                    </a:lnT>
                    <a:lnB w="9525">
                      <a:solidFill>
                        <a:srgbClr val="D8D3CA"/>
                      </a:solidFill>
                      <a:prstDash val="solid"/>
                    </a:lnB>
                    <a:solidFill>
                      <a:srgbClr val="1E5D78"/>
                    </a:solidFill>
                  </a:tcPr>
                </a:tc>
              </a:tr>
              <a:tr h="347663">
                <a:tc>
                  <a:txBody>
                    <a:bodyPr/>
                    <a:lstStyle/>
                    <a:p>
                      <a:pPr algn="l"/>
                      <a:r>
                        <a:rPr sz="1050">
                          <a:solidFill>
                            <a:srgbClr val="2C3E50"/>
                          </a:solidFill>
                        </a:rPr>
                        <a:t>Bedroom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Kitchen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Living Room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5</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5</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5</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Hallway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Bathroom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Bedroom 2</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Entryway 1</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2</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2</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2</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Living Room 2</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Kitchen 2</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0</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050">
                          <a:solidFill>
                            <a:srgbClr val="2C3E50"/>
                          </a:solidFill>
                        </a:rPr>
                        <a:t>Bedroom 3</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4</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3</a:t>
                      </a:r>
                    </a:p>
                  </a:txBody>
                  <a:tcPr marL="95250" marR="95250" marT="38100" marB="38100" anchor="ctr">
                    <a:lnR w="9525">
                      <a:solidFill>
                        <a:srgbClr val="D8D3CA"/>
                      </a:solidFill>
                      <a:prstDash val="solid"/>
                    </a:lnR>
                    <a:lnB w="9525">
                      <a:solidFill>
                        <a:srgbClr val="D8D3CA"/>
                      </a:solidFill>
                      <a:prstDash val="solid"/>
                    </a:lnB>
                    <a:solidFill>
                      <a:srgbClr val="FFFDFC"/>
                    </a:solidFill>
                  </a:tcPr>
                </a:tc>
                <a:tc>
                  <a:txBody>
                    <a:bodyPr/>
                    <a:lstStyle/>
                    <a:p>
                      <a:r>
                        <a:rPr sz="1050">
                          <a:solidFill>
                            <a:srgbClr val="2C3E50"/>
                          </a:solidFill>
                        </a:rPr>
                        <a:t>1</a:t>
                      </a:r>
                    </a:p>
                  </a:txBody>
                  <a:tcPr marL="95250" marR="95250" marT="38100" marB="38100" anchor="ctr">
                    <a:lnR w="9525">
                      <a:solidFill>
                        <a:srgbClr val="D8D3CA"/>
                      </a:solidFill>
                      <a:prstDash val="solid"/>
                    </a:lnR>
                    <a:lnB w="9525">
                      <a:solidFill>
                        <a:srgbClr val="D8D3CA"/>
                      </a:solidFill>
                      <a:prstDash val="solid"/>
                    </a:lnB>
                    <a:solidFill>
                      <a:srgbClr val="FFFDFC"/>
                    </a:solidFill>
                  </a:tcPr>
                </a:tc>
              </a:tr>
              <a:tr h="347663">
                <a:tc>
                  <a:txBody>
                    <a:bodyPr/>
                    <a:lstStyle/>
                    <a:p>
                      <a:pPr algn="l"/>
                      <a:r>
                        <a:rPr sz="1125" b="1">
                          <a:solidFill>
                            <a:srgbClr val="203247"/>
                          </a:solidFill>
                        </a:rPr>
                        <a:t>TOTAL</a:t>
                      </a:r>
                    </a:p>
                  </a:txBody>
                  <a:tcPr marL="95250" marR="95250" marT="38100" marB="38100" anchor="ctr">
                    <a:lnL w="9525">
                      <a:solidFill>
                        <a:srgbClr val="D8D3CA"/>
                      </a:solidFill>
                      <a:prstDash val="solid"/>
                    </a:lnL>
                    <a:lnR w="9525">
                      <a:solidFill>
                        <a:srgbClr val="D8D3CA"/>
                      </a:solidFill>
                      <a:prstDash val="solid"/>
                    </a:lnR>
                    <a:lnB w="9525">
                      <a:solidFill>
                        <a:srgbClr val="D8D3CA"/>
                      </a:solidFill>
                      <a:prstDash val="solid"/>
                    </a:lnB>
                    <a:solidFill>
                      <a:srgbClr val="E3EEF1"/>
                    </a:solidFill>
                  </a:tcPr>
                </a:tc>
                <a:tc>
                  <a:txBody>
                    <a:bodyPr/>
                    <a:lstStyle/>
                    <a:p>
                      <a:r>
                        <a:rPr sz="1125" b="1">
                          <a:solidFill>
                            <a:srgbClr val="203247"/>
                          </a:solidFill>
                        </a:rPr>
                        <a:t>35</a:t>
                      </a:r>
                    </a:p>
                  </a:txBody>
                  <a:tcPr marL="95250" marR="95250" marT="38100" marB="38100" anchor="ctr">
                    <a:lnR w="9525">
                      <a:solidFill>
                        <a:srgbClr val="D8D3CA"/>
                      </a:solidFill>
                      <a:prstDash val="solid"/>
                    </a:lnR>
                    <a:lnB w="9525">
                      <a:solidFill>
                        <a:srgbClr val="D8D3CA"/>
                      </a:solidFill>
                      <a:prstDash val="solid"/>
                    </a:lnB>
                    <a:solidFill>
                      <a:srgbClr val="E3EEF1"/>
                    </a:solidFill>
                  </a:tcPr>
                </a:tc>
                <a:tc>
                  <a:txBody>
                    <a:bodyPr/>
                    <a:lstStyle/>
                    <a:p>
                      <a:r>
                        <a:rPr sz="1125" b="1">
                          <a:solidFill>
                            <a:srgbClr val="203247"/>
                          </a:solidFill>
                        </a:rPr>
                        <a:t>34</a:t>
                      </a:r>
                    </a:p>
                  </a:txBody>
                  <a:tcPr marL="95250" marR="95250" marT="38100" marB="38100" anchor="ctr">
                    <a:lnR w="9525">
                      <a:solidFill>
                        <a:srgbClr val="D8D3CA"/>
                      </a:solidFill>
                      <a:prstDash val="solid"/>
                    </a:lnR>
                    <a:lnB w="9525">
                      <a:solidFill>
                        <a:srgbClr val="D8D3CA"/>
                      </a:solidFill>
                      <a:prstDash val="solid"/>
                    </a:lnB>
                    <a:solidFill>
                      <a:srgbClr val="E3EEF1"/>
                    </a:solidFill>
                  </a:tcPr>
                </a:tc>
                <a:tc>
                  <a:txBody>
                    <a:bodyPr/>
                    <a:lstStyle/>
                    <a:p>
                      <a:r>
                        <a:rPr sz="1125" b="1">
                          <a:solidFill>
                            <a:srgbClr val="203247"/>
                          </a:solidFill>
                        </a:rPr>
                        <a:t>34</a:t>
                      </a:r>
                    </a:p>
                  </a:txBody>
                  <a:tcPr marL="95250" marR="95250" marT="38100" marB="38100" anchor="ctr">
                    <a:lnR w="9525">
                      <a:solidFill>
                        <a:srgbClr val="D8D3CA"/>
                      </a:solidFill>
                      <a:prstDash val="solid"/>
                    </a:lnR>
                    <a:lnB w="9525">
                      <a:solidFill>
                        <a:srgbClr val="D8D3CA"/>
                      </a:solidFill>
                      <a:prstDash val="solid"/>
                    </a:lnB>
                    <a:solidFill>
                      <a:srgbClr val="E3EEF1"/>
                    </a:solidFill>
                  </a:tcPr>
                </a:tc>
                <a:tc>
                  <a:txBody>
                    <a:bodyPr/>
                    <a:lstStyle/>
                    <a:p>
                      <a:r>
                        <a:rPr sz="1125" b="1">
                          <a:solidFill>
                            <a:srgbClr val="203247"/>
                          </a:solidFill>
                        </a:rPr>
                        <a:t>1</a:t>
                      </a:r>
                    </a:p>
                  </a:txBody>
                  <a:tcPr marL="95250" marR="95250" marT="38100" marB="38100" anchor="ctr">
                    <a:lnR w="9525">
                      <a:solidFill>
                        <a:srgbClr val="D8D3CA"/>
                      </a:solidFill>
                      <a:prstDash val="solid"/>
                    </a:lnR>
                    <a:lnB w="9525">
                      <a:solidFill>
                        <a:srgbClr val="D8D3CA"/>
                      </a:solidFill>
                      <a:prstDash val="solid"/>
                    </a:lnB>
                    <a:solidFill>
                      <a:srgbClr val="E3EEF1"/>
                    </a:solidFill>
                  </a:tcPr>
                </a:tc>
              </a:tr>
            </a:tbl>
          </a:graphicData>
        </a:graphic>
      </p:graphicFrame>
      <p:sp>
        <p:nvSpPr>
          <p:cNvPr id="6" name="">
            <a:extLst xmlns:a="http://schemas.openxmlformats.org/drawingml/2006/main">
              <a:ext uri="{FF2B5EF4-FFF2-40B4-BE49-F238E27FC236}">
                <a16:creationId xmlns:a16="http://schemas.microsoft.com/office/drawing/2014/main" id="{8FA0F56D-14EC-4F1A-8956-45CD16435B13}"/>
              </a:ext>
            </a:extLst>
          </p:cNvPr>
          <p:cNvSpPr>
            <a:spLocks xmlns:a="http://schemas.openxmlformats.org/drawingml/2006/main" noGrp="1"/>
          </p:cNvSpPr>
          <p:nvPr/>
        </p:nvSpPr>
        <p:spPr>
          <a:xfrm xmlns:a="http://schemas.openxmlformats.org/drawingml/2006/main">
            <a:off x="62865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1">
                <a:solidFill>
                  <a:srgbClr val="1E5D78"/>
                </a:solidFill>
              </a:defRPr>
            </a:defPPr>
          </a:lstStyle>
          <a:p xmlns:a="http://schemas.openxmlformats.org/drawingml/2006/main">
            <a:pPr algn="l">
              <a:defRPr sz="1350" b="1">
                <a:solidFill>
                  <a:srgbClr val="1E5D78"/>
                </a:solidFill>
              </a:defRPr>
            </a:pPr>
            <a:r>
              <a:rPr sz="1350" b="1">
                <a:solidFill>
                  <a:srgbClr val="1E5D78"/>
                </a:solidFill>
              </a:rPr>
              <a:t>34 of 35 reference hazards detected  |  97.1% in this test set</a:t>
            </a:r>
          </a:p>
        </p:txBody>
      </p:sp>
    </p:spTree>
    <p:extLst>
      <p:ext uri="{BB962C8B-B14F-4D97-AF65-F5344CB8AC3E}">
        <p14:creationId xmlns:p14="http://schemas.microsoft.com/office/powerpoint/2010/main" val="1093580521"/>
      </p:ext>
    </p:extLst>
  </p:cSld>
</p:sld>
</file>

<file path=ppt/slides/slide6.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3E9A30D-E9AF-4E82-9746-B63B00587BCF}"/>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04587E-29BA-464B-9454-89B5D8F1A3DC}"/>
              </a:ext>
            </a:extLst>
          </p:cNvPr>
          <p:cNvSpPr>
            <a:spLocks xmlns:a="http://schemas.openxmlformats.org/drawingml/2006/main" noGrp="1"/>
          </p:cNvSpPr>
          <p:nvPr/>
        </p:nvSpPr>
        <p:spPr>
          <a:xfrm xmlns:a="http://schemas.openxmlformats.org/drawingml/2006/main">
            <a:off x="628650" y="438150"/>
            <a:ext cx="1093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700" b="1">
                <a:solidFill>
                  <a:srgbClr val="203247"/>
                </a:solidFill>
              </a:defRPr>
            </a:defPPr>
          </a:lstStyle>
          <a:p xmlns:a="http://schemas.openxmlformats.org/drawingml/2006/main">
            <a:pPr algn="l">
              <a:defRPr sz="2700" b="1">
                <a:solidFill>
                  <a:srgbClr val="203247"/>
                </a:solidFill>
              </a:defRPr>
            </a:pPr>
            <a:r>
              <a:rPr sz="2700" b="1">
                <a:solidFill>
                  <a:srgbClr val="203247"/>
                </a:solidFill>
              </a:rPr>
              <a:t>Design decisions that make the app usable</a:t>
            </a:r>
          </a:p>
        </p:txBody>
      </p:sp>
      <p:sp>
        <p:nvSpPr>
          <p:cNvPr id="3" name="">
            <a:extLst xmlns:a="http://schemas.openxmlformats.org/drawingml/2006/main">
              <a:ext uri="{FF2B5EF4-FFF2-40B4-BE49-F238E27FC236}">
                <a16:creationId xmlns:a16="http://schemas.microsoft.com/office/drawing/2014/main" id="{4D1F37EC-1D01-4679-A885-DCA1D51ED4FA}"/>
              </a:ext>
            </a:extLst>
          </p:cNvPr>
          <p:cNvSpPr>
            <a:spLocks xmlns:a="http://schemas.openxmlformats.org/drawingml/2006/main" noGrp="1"/>
          </p:cNvSpPr>
          <p:nvPr/>
        </p:nvSpPr>
        <p:spPr>
          <a:xfrm xmlns:a="http://schemas.openxmlformats.org/drawingml/2006/main">
            <a:off x="628650" y="9715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425" b="0">
                <a:solidFill>
                  <a:srgbClr val="59677A"/>
                </a:solidFill>
              </a:defRPr>
            </a:defPPr>
          </a:lstStyle>
          <a:p xmlns:a="http://schemas.openxmlformats.org/drawingml/2006/main">
            <a:pPr algn="l">
              <a:defRPr sz="1425" b="0">
                <a:solidFill>
                  <a:srgbClr val="59677A"/>
                </a:solidFill>
              </a:defRPr>
            </a:pPr>
            <a:r>
              <a:rPr sz="1425" b="0">
                <a:solidFill>
                  <a:srgbClr val="59677A"/>
                </a:solidFill>
              </a:rPr>
              <a:t>Each decision solves a specific risk in an AI-assisted safety tool.</a:t>
            </a:r>
          </a:p>
        </p:txBody>
      </p:sp>
      <p:sp>
        <p:nvSpPr>
          <p:cNvPr id="4" name="">
            <a:extLst xmlns:a="http://schemas.openxmlformats.org/drawingml/2006/main">
              <a:ext uri="{FF2B5EF4-FFF2-40B4-BE49-F238E27FC236}">
                <a16:creationId xmlns:a16="http://schemas.microsoft.com/office/drawing/2014/main" id="{D9F0F273-C33E-420A-8859-97952EEC9D4C}"/>
              </a:ext>
            </a:extLst>
          </p:cNvPr>
          <p:cNvSpPr>
            <a:spLocks xmlns:a="http://schemas.openxmlformats.org/drawingml/2006/main" noGrp="1"/>
          </p:cNvSpPr>
          <p:nvPr/>
        </p:nvSpPr>
        <p:spPr>
          <a:xfrm xmlns:a="http://schemas.openxmlformats.org/drawingml/2006/main">
            <a:off x="10858500" y="64293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750" b="0">
                <a:solidFill>
                  <a:srgbClr val="7D817F"/>
                </a:solidFill>
              </a:defRPr>
            </a:defPPr>
          </a:lstStyle>
          <a:p xmlns:a="http://schemas.openxmlformats.org/drawingml/2006/main">
            <a:pPr algn="r">
              <a:defRPr sz="750" b="0">
                <a:solidFill>
                  <a:srgbClr val="7D817F"/>
                </a:solidFill>
              </a:defRPr>
            </a:pPr>
            <a:r>
              <a:rPr sz="750" b="0">
                <a:solidFill>
                  <a:srgbClr val="7D817F"/>
                </a:solidFill>
              </a:rPr>
              <a:t>6</a:t>
            </a:r>
          </a:p>
        </p:txBody>
      </p:sp>
      <p:sp>
        <p:nvSpPr>
          <p:cNvPr id="5" name="">
            <a:extLst xmlns:a="http://schemas.openxmlformats.org/drawingml/2006/main">
              <a:ext uri="{FF2B5EF4-FFF2-40B4-BE49-F238E27FC236}">
                <a16:creationId xmlns:a16="http://schemas.microsoft.com/office/drawing/2014/main" id="{93C3FFAF-A4EA-40AE-961D-DFFD9A56CA40}"/>
              </a:ext>
            </a:extLst>
          </p:cNvPr>
          <p:cNvSpPr>
            <a:spLocks xmlns:a="http://schemas.openxmlformats.org/drawingml/2006/main" noGrp="1"/>
          </p:cNvSpPr>
          <p:nvPr/>
        </p:nvSpPr>
        <p:spPr>
          <a:xfrm xmlns:a="http://schemas.openxmlformats.org/drawingml/2006/main">
            <a:off x="628650" y="1752600"/>
            <a:ext cx="5143500" cy="1466850"/>
          </a:xfrm>
          <a:prstGeom xmlns:a="http://schemas.openxmlformats.org/drawingml/2006/main" prst="roundRect">
            <a:avLst>
              <a:gd name="adj" fmla="val 5195"/>
            </a:avLst>
          </a:prstGeom>
          <a:solidFill xmlns:a="http://schemas.openxmlformats.org/drawingml/2006/main">
            <a:srgbClr val="FFFDFC"/>
          </a:solidFill>
          <a:ln xmlns:a="http://schemas.openxmlformats.org/drawingml/2006/main" w="9525">
            <a:solidFill>
              <a:srgbClr val="D8D3CA"/>
            </a:solidFill>
            <a:prstDash val="solid"/>
          </a:ln>
        </p:spPr>
      </p:sp>
      <p:sp>
        <p:nvSpPr>
          <p:cNvPr id="6" name="">
            <a:extLst xmlns:a="http://schemas.openxmlformats.org/drawingml/2006/main">
              <a:ext uri="{FF2B5EF4-FFF2-40B4-BE49-F238E27FC236}">
                <a16:creationId xmlns:a16="http://schemas.microsoft.com/office/drawing/2014/main" id="{E1B99AFA-38BF-4294-969A-841CE08975FB}"/>
              </a:ext>
            </a:extLst>
          </p:cNvPr>
          <p:cNvSpPr>
            <a:spLocks xmlns:a="http://schemas.openxmlformats.org/drawingml/2006/main" noGrp="1"/>
          </p:cNvSpPr>
          <p:nvPr/>
        </p:nvSpPr>
        <p:spPr>
          <a:xfrm xmlns:a="http://schemas.openxmlformats.org/drawingml/2006/main">
            <a:off x="628650" y="1752600"/>
            <a:ext cx="76200" cy="1466850"/>
          </a:xfrm>
          <a:prstGeom xmlns:a="http://schemas.openxmlformats.org/drawingml/2006/main" prst="rect">
            <a:avLst/>
          </a:prstGeom>
          <a:solidFill xmlns:a="http://schemas.openxmlformats.org/drawingml/2006/main">
            <a:srgbClr val="1E5D7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EA4C805-2925-4A05-8974-95117565BB31}"/>
              </a:ext>
            </a:extLst>
          </p:cNvPr>
          <p:cNvSpPr>
            <a:spLocks xmlns:a="http://schemas.openxmlformats.org/drawingml/2006/main" noGrp="1"/>
          </p:cNvSpPr>
          <p:nvPr/>
        </p:nvSpPr>
        <p:spPr>
          <a:xfrm xmlns:a="http://schemas.openxmlformats.org/drawingml/2006/main">
            <a:off x="895350" y="1924050"/>
            <a:ext cx="464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75" b="1">
                <a:solidFill>
                  <a:srgbClr val="1E5D78"/>
                </a:solidFill>
              </a:defRPr>
            </a:defPPr>
          </a:lstStyle>
          <a:p xmlns:a="http://schemas.openxmlformats.org/drawingml/2006/main">
            <a:pPr algn="l">
              <a:defRPr sz="1275" b="1">
                <a:solidFill>
                  <a:srgbClr val="1E5D78"/>
                </a:solidFill>
              </a:defRPr>
            </a:pPr>
            <a:r>
              <a:rPr sz="1275" b="1">
                <a:solidFill>
                  <a:srgbClr val="1E5D78"/>
                </a:solidFill>
              </a:rPr>
              <a:t>CONSISTENCY</a:t>
            </a:r>
          </a:p>
        </p:txBody>
      </p:sp>
      <p:sp>
        <p:nvSpPr>
          <p:cNvPr id="8" name="">
            <a:extLst xmlns:a="http://schemas.openxmlformats.org/drawingml/2006/main">
              <a:ext uri="{FF2B5EF4-FFF2-40B4-BE49-F238E27FC236}">
                <a16:creationId xmlns:a16="http://schemas.microsoft.com/office/drawing/2014/main" id="{F9E89F36-DDD8-40F2-89BD-7B1333CB988B}"/>
              </a:ext>
            </a:extLst>
          </p:cNvPr>
          <p:cNvSpPr>
            <a:spLocks xmlns:a="http://schemas.openxmlformats.org/drawingml/2006/main" noGrp="1"/>
          </p:cNvSpPr>
          <p:nvPr/>
        </p:nvSpPr>
        <p:spPr>
          <a:xfrm xmlns:a="http://schemas.openxmlformats.org/drawingml/2006/main">
            <a:off x="895350" y="2266950"/>
            <a:ext cx="4648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0">
                <a:solidFill>
                  <a:srgbClr val="2C3E50"/>
                </a:solidFill>
              </a:defRPr>
            </a:defPPr>
          </a:lstStyle>
          <a:p xmlns:a="http://schemas.openxmlformats.org/drawingml/2006/main">
            <a:pPr algn="l">
              <a:defRPr sz="1350" b="0">
                <a:solidFill>
                  <a:srgbClr val="2C3E50"/>
                </a:solidFill>
              </a:defRPr>
            </a:pPr>
            <a:r>
              <a:rPr sz="1350" b="0">
                <a:solidFill>
                  <a:srgbClr val="2C3E50"/>
                </a:solidFill>
              </a:rPr>
              <a:t>AI proposes 1-15 points.</a:t>
            </a:r>
          </a:p>
          <a:p xmlns:a="http://schemas.openxmlformats.org/drawingml/2006/main">
            <a:pPr algn="l">
              <a:defRPr sz="1350" b="0">
                <a:solidFill>
                  <a:srgbClr val="2C3E50"/>
                </a:solidFill>
              </a:defRPr>
            </a:pPr>
            <a:r>
              <a:rPr sz="1350" b="0">
                <a:solidFill>
                  <a:srgbClr val="2C3E50"/>
                </a:solidFill>
              </a:rPr>
              <a:t>Python clamps values, applies tested fallbacks, and caps the room at 100.</a:t>
            </a:r>
          </a:p>
        </p:txBody>
      </p:sp>
      <p:sp>
        <p:nvSpPr>
          <p:cNvPr id="9" name="">
            <a:extLst xmlns:a="http://schemas.openxmlformats.org/drawingml/2006/main">
              <a:ext uri="{FF2B5EF4-FFF2-40B4-BE49-F238E27FC236}">
                <a16:creationId xmlns:a16="http://schemas.microsoft.com/office/drawing/2014/main" id="{E3FBF88F-FE49-4F9B-AC55-E313884DF651}"/>
              </a:ext>
            </a:extLst>
          </p:cNvPr>
          <p:cNvSpPr>
            <a:spLocks xmlns:a="http://schemas.openxmlformats.org/drawingml/2006/main" noGrp="1"/>
          </p:cNvSpPr>
          <p:nvPr/>
        </p:nvSpPr>
        <p:spPr>
          <a:xfrm xmlns:a="http://schemas.openxmlformats.org/drawingml/2006/main">
            <a:off x="6096000" y="1752600"/>
            <a:ext cx="5143500" cy="1466850"/>
          </a:xfrm>
          <a:prstGeom xmlns:a="http://schemas.openxmlformats.org/drawingml/2006/main" prst="roundRect">
            <a:avLst>
              <a:gd name="adj" fmla="val 5195"/>
            </a:avLst>
          </a:prstGeom>
          <a:solidFill xmlns:a="http://schemas.openxmlformats.org/drawingml/2006/main">
            <a:srgbClr val="FFFDFC"/>
          </a:solidFill>
          <a:ln xmlns:a="http://schemas.openxmlformats.org/drawingml/2006/main" w="9525">
            <a:solidFill>
              <a:srgbClr val="D8D3CA"/>
            </a:solidFill>
            <a:prstDash val="solid"/>
          </a:ln>
        </p:spPr>
      </p:sp>
      <p:sp>
        <p:nvSpPr>
          <p:cNvPr id="10" name="">
            <a:extLst xmlns:a="http://schemas.openxmlformats.org/drawingml/2006/main">
              <a:ext uri="{FF2B5EF4-FFF2-40B4-BE49-F238E27FC236}">
                <a16:creationId xmlns:a16="http://schemas.microsoft.com/office/drawing/2014/main" id="{6E2E19AF-A9C3-414C-A2C0-3033CA78F71B}"/>
              </a:ext>
            </a:extLst>
          </p:cNvPr>
          <p:cNvSpPr>
            <a:spLocks xmlns:a="http://schemas.openxmlformats.org/drawingml/2006/main" noGrp="1"/>
          </p:cNvSpPr>
          <p:nvPr/>
        </p:nvSpPr>
        <p:spPr>
          <a:xfrm xmlns:a="http://schemas.openxmlformats.org/drawingml/2006/main">
            <a:off x="6096000" y="1752600"/>
            <a:ext cx="76200" cy="1466850"/>
          </a:xfrm>
          <a:prstGeom xmlns:a="http://schemas.openxmlformats.org/drawingml/2006/main" prst="rect">
            <a:avLst/>
          </a:prstGeom>
          <a:solidFill xmlns:a="http://schemas.openxmlformats.org/drawingml/2006/main">
            <a:srgbClr val="2F7D6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53A1B9A-D3FE-4DED-92C1-45477B5D478F}"/>
              </a:ext>
            </a:extLst>
          </p:cNvPr>
          <p:cNvSpPr>
            <a:spLocks xmlns:a="http://schemas.openxmlformats.org/drawingml/2006/main" noGrp="1"/>
          </p:cNvSpPr>
          <p:nvPr/>
        </p:nvSpPr>
        <p:spPr>
          <a:xfrm xmlns:a="http://schemas.openxmlformats.org/drawingml/2006/main">
            <a:off x="6362700" y="1924050"/>
            <a:ext cx="464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75" b="1">
                <a:solidFill>
                  <a:srgbClr val="2F7D68"/>
                </a:solidFill>
              </a:defRPr>
            </a:defPPr>
          </a:lstStyle>
          <a:p xmlns:a="http://schemas.openxmlformats.org/drawingml/2006/main">
            <a:pPr algn="l">
              <a:defRPr sz="1275" b="1">
                <a:solidFill>
                  <a:srgbClr val="2F7D68"/>
                </a:solidFill>
              </a:defRPr>
            </a:pPr>
            <a:r>
              <a:rPr sz="1275" b="1">
                <a:solidFill>
                  <a:srgbClr val="2F7D68"/>
                </a:solidFill>
              </a:rPr>
              <a:t>UNCERTAINTY</a:t>
            </a:r>
          </a:p>
        </p:txBody>
      </p:sp>
      <p:sp>
        <p:nvSpPr>
          <p:cNvPr id="12" name="">
            <a:extLst xmlns:a="http://schemas.openxmlformats.org/drawingml/2006/main">
              <a:ext uri="{FF2B5EF4-FFF2-40B4-BE49-F238E27FC236}">
                <a16:creationId xmlns:a16="http://schemas.microsoft.com/office/drawing/2014/main" id="{B1FB28EB-3707-4D3E-8A28-6309E2FD2759}"/>
              </a:ext>
            </a:extLst>
          </p:cNvPr>
          <p:cNvSpPr>
            <a:spLocks xmlns:a="http://schemas.openxmlformats.org/drawingml/2006/main" noGrp="1"/>
          </p:cNvSpPr>
          <p:nvPr/>
        </p:nvSpPr>
        <p:spPr>
          <a:xfrm xmlns:a="http://schemas.openxmlformats.org/drawingml/2006/main">
            <a:off x="6362700" y="2266950"/>
            <a:ext cx="4648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0">
                <a:solidFill>
                  <a:srgbClr val="2C3E50"/>
                </a:solidFill>
              </a:defRPr>
            </a:defPPr>
          </a:lstStyle>
          <a:p xmlns:a="http://schemas.openxmlformats.org/drawingml/2006/main">
            <a:pPr algn="l">
              <a:defRPr sz="1350" b="0">
                <a:solidFill>
                  <a:srgbClr val="2C3E50"/>
                </a:solidFill>
              </a:defRPr>
            </a:pPr>
            <a:r>
              <a:rPr sz="1350" b="0">
                <a:solidFill>
                  <a:srgbClr val="2C3E50"/>
                </a:solidFill>
              </a:rPr>
              <a:t>The model does not guess hidden facts.</a:t>
            </a:r>
          </a:p>
          <a:p xmlns:a="http://schemas.openxmlformats.org/drawingml/2006/main">
            <a:pPr algn="l">
              <a:defRPr sz="1350" b="0">
                <a:solidFill>
                  <a:srgbClr val="2C3E50"/>
                </a:solidFill>
              </a:defRPr>
            </a:pPr>
            <a:r>
              <a:rPr sz="1350" b="0">
                <a:solidFill>
                  <a:srgbClr val="2C3E50"/>
                </a:solidFill>
              </a:rPr>
              <a:t>It turns important unknowns into simple follow-up questions.</a:t>
            </a:r>
          </a:p>
        </p:txBody>
      </p:sp>
      <p:sp>
        <p:nvSpPr>
          <p:cNvPr id="13" name="">
            <a:extLst xmlns:a="http://schemas.openxmlformats.org/drawingml/2006/main">
              <a:ext uri="{FF2B5EF4-FFF2-40B4-BE49-F238E27FC236}">
                <a16:creationId xmlns:a16="http://schemas.microsoft.com/office/drawing/2014/main" id="{657AC8F0-D004-43D5-A585-92208D79440D}"/>
              </a:ext>
            </a:extLst>
          </p:cNvPr>
          <p:cNvSpPr>
            <a:spLocks xmlns:a="http://schemas.openxmlformats.org/drawingml/2006/main" noGrp="1"/>
          </p:cNvSpPr>
          <p:nvPr/>
        </p:nvSpPr>
        <p:spPr>
          <a:xfrm xmlns:a="http://schemas.openxmlformats.org/drawingml/2006/main">
            <a:off x="628650" y="3562350"/>
            <a:ext cx="5143500" cy="1466850"/>
          </a:xfrm>
          <a:prstGeom xmlns:a="http://schemas.openxmlformats.org/drawingml/2006/main" prst="roundRect">
            <a:avLst>
              <a:gd name="adj" fmla="val 5195"/>
            </a:avLst>
          </a:prstGeom>
          <a:solidFill xmlns:a="http://schemas.openxmlformats.org/drawingml/2006/main">
            <a:srgbClr val="FFFDFC"/>
          </a:solidFill>
          <a:ln xmlns:a="http://schemas.openxmlformats.org/drawingml/2006/main" w="9525">
            <a:solidFill>
              <a:srgbClr val="D8D3CA"/>
            </a:solidFill>
            <a:prstDash val="solid"/>
          </a:ln>
        </p:spPr>
      </p:sp>
      <p:sp>
        <p:nvSpPr>
          <p:cNvPr id="14" name="">
            <a:extLst xmlns:a="http://schemas.openxmlformats.org/drawingml/2006/main">
              <a:ext uri="{FF2B5EF4-FFF2-40B4-BE49-F238E27FC236}">
                <a16:creationId xmlns:a16="http://schemas.microsoft.com/office/drawing/2014/main" id="{3FEE280B-53F0-4649-9397-8AE41C9DBABD}"/>
              </a:ext>
            </a:extLst>
          </p:cNvPr>
          <p:cNvSpPr>
            <a:spLocks xmlns:a="http://schemas.openxmlformats.org/drawingml/2006/main" noGrp="1"/>
          </p:cNvSpPr>
          <p:nvPr/>
        </p:nvSpPr>
        <p:spPr>
          <a:xfrm xmlns:a="http://schemas.openxmlformats.org/drawingml/2006/main">
            <a:off x="628650" y="3562350"/>
            <a:ext cx="76200" cy="1466850"/>
          </a:xfrm>
          <a:prstGeom xmlns:a="http://schemas.openxmlformats.org/drawingml/2006/main" prst="rect">
            <a:avLst/>
          </a:prstGeom>
          <a:solidFill xmlns:a="http://schemas.openxmlformats.org/drawingml/2006/main">
            <a:srgbClr val="C9793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7F97036-1828-44AE-B5C5-08A940908958}"/>
              </a:ext>
            </a:extLst>
          </p:cNvPr>
          <p:cNvSpPr>
            <a:spLocks xmlns:a="http://schemas.openxmlformats.org/drawingml/2006/main" noGrp="1"/>
          </p:cNvSpPr>
          <p:nvPr/>
        </p:nvSpPr>
        <p:spPr>
          <a:xfrm xmlns:a="http://schemas.openxmlformats.org/drawingml/2006/main">
            <a:off x="895350" y="3733800"/>
            <a:ext cx="464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75" b="1">
                <a:solidFill>
                  <a:srgbClr val="C9793A"/>
                </a:solidFill>
              </a:defRPr>
            </a:defPPr>
          </a:lstStyle>
          <a:p xmlns:a="http://schemas.openxmlformats.org/drawingml/2006/main">
            <a:pPr algn="l">
              <a:defRPr sz="1275" b="1">
                <a:solidFill>
                  <a:srgbClr val="C9793A"/>
                </a:solidFill>
              </a:defRPr>
            </a:pPr>
            <a:r>
              <a:rPr sz="1275" b="1">
                <a:solidFill>
                  <a:srgbClr val="C9793A"/>
                </a:solidFill>
              </a:rPr>
              <a:t>ACTION</a:t>
            </a:r>
          </a:p>
        </p:txBody>
      </p:sp>
      <p:sp>
        <p:nvSpPr>
          <p:cNvPr id="16" name="">
            <a:extLst xmlns:a="http://schemas.openxmlformats.org/drawingml/2006/main">
              <a:ext uri="{FF2B5EF4-FFF2-40B4-BE49-F238E27FC236}">
                <a16:creationId xmlns:a16="http://schemas.microsoft.com/office/drawing/2014/main" id="{24A79E0C-D89E-4D73-869B-F8909C8FFD32}"/>
              </a:ext>
            </a:extLst>
          </p:cNvPr>
          <p:cNvSpPr>
            <a:spLocks xmlns:a="http://schemas.openxmlformats.org/drawingml/2006/main" noGrp="1"/>
          </p:cNvSpPr>
          <p:nvPr/>
        </p:nvSpPr>
        <p:spPr>
          <a:xfrm xmlns:a="http://schemas.openxmlformats.org/drawingml/2006/main">
            <a:off x="895350" y="4076700"/>
            <a:ext cx="4648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0">
                <a:solidFill>
                  <a:srgbClr val="2C3E50"/>
                </a:solidFill>
              </a:defRPr>
            </a:defPPr>
          </a:lstStyle>
          <a:p xmlns:a="http://schemas.openxmlformats.org/drawingml/2006/main">
            <a:pPr algn="l">
              <a:defRPr sz="1350" b="0">
                <a:solidFill>
                  <a:srgbClr val="2C3E50"/>
                </a:solidFill>
              </a:defRPr>
            </a:pPr>
            <a:r>
              <a:rPr sz="1350" b="0">
                <a:solidFill>
                  <a:srgbClr val="2C3E50"/>
                </a:solidFill>
              </a:rPr>
              <a:t>Results become three prioritized fixes,</a:t>
            </a:r>
          </a:p>
          <a:p xmlns:a="http://schemas.openxmlformats.org/drawingml/2006/main">
            <a:pPr algn="l">
              <a:defRPr sz="1350" b="0">
                <a:solidFill>
                  <a:srgbClr val="2C3E50"/>
                </a:solidFill>
              </a:defRPr>
            </a:pPr>
            <a:r>
              <a:rPr sz="1350" b="0">
                <a:solidFill>
                  <a:srgbClr val="2C3E50"/>
                </a:solidFill>
              </a:rPr>
              <a:t>impact estimates, and before/after comparisons.</a:t>
            </a:r>
          </a:p>
        </p:txBody>
      </p:sp>
      <p:sp>
        <p:nvSpPr>
          <p:cNvPr id="17" name="">
            <a:extLst xmlns:a="http://schemas.openxmlformats.org/drawingml/2006/main">
              <a:ext uri="{FF2B5EF4-FFF2-40B4-BE49-F238E27FC236}">
                <a16:creationId xmlns:a16="http://schemas.microsoft.com/office/drawing/2014/main" id="{C60E1519-AE2B-45CA-B873-CF6F4D99966E}"/>
              </a:ext>
            </a:extLst>
          </p:cNvPr>
          <p:cNvSpPr>
            <a:spLocks xmlns:a="http://schemas.openxmlformats.org/drawingml/2006/main" noGrp="1"/>
          </p:cNvSpPr>
          <p:nvPr/>
        </p:nvSpPr>
        <p:spPr>
          <a:xfrm xmlns:a="http://schemas.openxmlformats.org/drawingml/2006/main">
            <a:off x="6096000" y="3562350"/>
            <a:ext cx="5143500" cy="1466850"/>
          </a:xfrm>
          <a:prstGeom xmlns:a="http://schemas.openxmlformats.org/drawingml/2006/main" prst="roundRect">
            <a:avLst>
              <a:gd name="adj" fmla="val 5195"/>
            </a:avLst>
          </a:prstGeom>
          <a:solidFill xmlns:a="http://schemas.openxmlformats.org/drawingml/2006/main">
            <a:srgbClr val="FFFDFC"/>
          </a:solidFill>
          <a:ln xmlns:a="http://schemas.openxmlformats.org/drawingml/2006/main" w="9525">
            <a:solidFill>
              <a:srgbClr val="D8D3CA"/>
            </a:solidFill>
            <a:prstDash val="solid"/>
          </a:ln>
        </p:spPr>
      </p:sp>
      <p:sp>
        <p:nvSpPr>
          <p:cNvPr id="18" name="">
            <a:extLst xmlns:a="http://schemas.openxmlformats.org/drawingml/2006/main">
              <a:ext uri="{FF2B5EF4-FFF2-40B4-BE49-F238E27FC236}">
                <a16:creationId xmlns:a16="http://schemas.microsoft.com/office/drawing/2014/main" id="{418694C6-0074-423E-89B4-0C63EF7BCE7F}"/>
              </a:ext>
            </a:extLst>
          </p:cNvPr>
          <p:cNvSpPr>
            <a:spLocks xmlns:a="http://schemas.openxmlformats.org/drawingml/2006/main" noGrp="1"/>
          </p:cNvSpPr>
          <p:nvPr/>
        </p:nvSpPr>
        <p:spPr>
          <a:xfrm xmlns:a="http://schemas.openxmlformats.org/drawingml/2006/main">
            <a:off x="6096000" y="3562350"/>
            <a:ext cx="76200" cy="1466850"/>
          </a:xfrm>
          <a:prstGeom xmlns:a="http://schemas.openxmlformats.org/drawingml/2006/main" prst="rect">
            <a:avLst/>
          </a:prstGeom>
          <a:solidFill xmlns:a="http://schemas.openxmlformats.org/drawingml/2006/main">
            <a:srgbClr val="B7504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9478F83-4A03-46F5-991B-842F1AE2A9E2}"/>
              </a:ext>
            </a:extLst>
          </p:cNvPr>
          <p:cNvSpPr>
            <a:spLocks xmlns:a="http://schemas.openxmlformats.org/drawingml/2006/main" noGrp="1"/>
          </p:cNvSpPr>
          <p:nvPr/>
        </p:nvSpPr>
        <p:spPr>
          <a:xfrm xmlns:a="http://schemas.openxmlformats.org/drawingml/2006/main">
            <a:off x="6362700" y="3733800"/>
            <a:ext cx="464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75" b="1">
                <a:solidFill>
                  <a:srgbClr val="B75045"/>
                </a:solidFill>
              </a:defRPr>
            </a:defPPr>
          </a:lstStyle>
          <a:p xmlns:a="http://schemas.openxmlformats.org/drawingml/2006/main">
            <a:pPr algn="l">
              <a:defRPr sz="1275" b="1">
                <a:solidFill>
                  <a:srgbClr val="B75045"/>
                </a:solidFill>
              </a:defRPr>
            </a:pPr>
            <a:r>
              <a:rPr sz="1275" b="1">
                <a:solidFill>
                  <a:srgbClr val="B75045"/>
                </a:solidFill>
              </a:rPr>
              <a:t>ACCESS</a:t>
            </a:r>
          </a:p>
        </p:txBody>
      </p:sp>
      <p:sp>
        <p:nvSpPr>
          <p:cNvPr id="20" name="">
            <a:extLst xmlns:a="http://schemas.openxmlformats.org/drawingml/2006/main">
              <a:ext uri="{FF2B5EF4-FFF2-40B4-BE49-F238E27FC236}">
                <a16:creationId xmlns:a16="http://schemas.microsoft.com/office/drawing/2014/main" id="{D240465B-A3CA-4D32-96EA-11A63548C2EA}"/>
              </a:ext>
            </a:extLst>
          </p:cNvPr>
          <p:cNvSpPr>
            <a:spLocks xmlns:a="http://schemas.openxmlformats.org/drawingml/2006/main" noGrp="1"/>
          </p:cNvSpPr>
          <p:nvPr/>
        </p:nvSpPr>
        <p:spPr>
          <a:xfrm xmlns:a="http://schemas.openxmlformats.org/drawingml/2006/main">
            <a:off x="6362700" y="4076700"/>
            <a:ext cx="4648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0">
                <a:solidFill>
                  <a:srgbClr val="2C3E50"/>
                </a:solidFill>
              </a:defRPr>
            </a:defPPr>
          </a:lstStyle>
          <a:p xmlns:a="http://schemas.openxmlformats.org/drawingml/2006/main">
            <a:pPr algn="l">
              <a:defRPr sz="1350" b="0">
                <a:solidFill>
                  <a:srgbClr val="2C3E50"/>
                </a:solidFill>
              </a:defRPr>
            </a:pPr>
            <a:r>
              <a:rPr sz="1350" b="0">
                <a:solidFill>
                  <a:srgbClr val="2C3E50"/>
                </a:solidFill>
              </a:rPr>
              <a:t>Large controls, four color modes, Read Aloud, reduced motion, and a mobile-first layout.</a:t>
            </a:r>
          </a:p>
        </p:txBody>
      </p:sp>
      <p:sp>
        <p:nvSpPr>
          <p:cNvPr id="21" name="">
            <a:extLst xmlns:a="http://schemas.openxmlformats.org/drawingml/2006/main">
              <a:ext uri="{FF2B5EF4-FFF2-40B4-BE49-F238E27FC236}">
                <a16:creationId xmlns:a16="http://schemas.microsoft.com/office/drawing/2014/main" id="{07B51AD0-C49F-410B-8BC1-35C56A932E79}"/>
              </a:ext>
            </a:extLst>
          </p:cNvPr>
          <p:cNvSpPr>
            <a:spLocks xmlns:a="http://schemas.openxmlformats.org/drawingml/2006/main" noGrp="1"/>
          </p:cNvSpPr>
          <p:nvPr/>
        </p:nvSpPr>
        <p:spPr>
          <a:xfrm xmlns:a="http://schemas.openxmlformats.org/drawingml/2006/main">
            <a:off x="1200150" y="5524500"/>
            <a:ext cx="9791700" cy="495300"/>
          </a:xfrm>
          <a:prstGeom xmlns:a="http://schemas.openxmlformats.org/drawingml/2006/main" prst="roundRect">
            <a:avLst>
              <a:gd name="adj" fmla="val 15385"/>
            </a:avLst>
          </a:prstGeom>
          <a:solidFill xmlns:a="http://schemas.openxmlformats.org/drawingml/2006/main">
            <a:srgbClr val="E3EEF1"/>
          </a:solidFill>
          <a:ln xmlns:a="http://schemas.openxmlformats.org/drawingml/2006/main" w="9525">
            <a:solidFill>
              <a:srgbClr val="1E5D78"/>
            </a:solidFill>
            <a:prstDash val="solid"/>
          </a:ln>
        </p:spPr>
      </p:sp>
      <p:sp>
        <p:nvSpPr>
          <p:cNvPr id="22" name="">
            <a:extLst xmlns:a="http://schemas.openxmlformats.org/drawingml/2006/main">
              <a:ext uri="{FF2B5EF4-FFF2-40B4-BE49-F238E27FC236}">
                <a16:creationId xmlns:a16="http://schemas.microsoft.com/office/drawing/2014/main" id="{850A3F9C-592D-485E-A70A-9D5B7A43987E}"/>
              </a:ext>
            </a:extLst>
          </p:cNvPr>
          <p:cNvSpPr>
            <a:spLocks xmlns:a="http://schemas.openxmlformats.org/drawingml/2006/main" noGrp="1"/>
          </p:cNvSpPr>
          <p:nvPr/>
        </p:nvSpPr>
        <p:spPr>
          <a:xfrm xmlns:a="http://schemas.openxmlformats.org/drawingml/2006/main">
            <a:off x="1428750" y="5600700"/>
            <a:ext cx="933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350" b="1">
                <a:solidFill>
                  <a:srgbClr val="203247"/>
                </a:solidFill>
              </a:defRPr>
            </a:defPPr>
          </a:lstStyle>
          <a:p xmlns:a="http://schemas.openxmlformats.org/drawingml/2006/main">
            <a:pPr algn="ctr">
              <a:defRPr sz="1350" b="1">
                <a:solidFill>
                  <a:srgbClr val="203247"/>
                </a:solidFill>
              </a:defRPr>
            </a:pPr>
            <a:r>
              <a:rPr sz="1350" b="1">
                <a:solidFill>
                  <a:srgbClr val="203247"/>
                </a:solidFill>
              </a:rPr>
              <a:t>Human review stays explicit: the app supports room decisions; it does not diagnose a person or guarantee safety.</a:t>
            </a:r>
          </a:p>
        </p:txBody>
      </p:sp>
    </p:spTree>
    <p:extLst>
      <p:ext uri="{BB962C8B-B14F-4D97-AF65-F5344CB8AC3E}">
        <p14:creationId xmlns:p14="http://schemas.microsoft.com/office/powerpoint/2010/main" val="18996524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2026-10-16T16:05:31.6090000Z</dcterms:created>
  <dcterms:modified xsi:type="dcterms:W3CDTF">2026-10-16T16:05:31.6090000Z</dcterms:modified>
</coreProperties>
</file>